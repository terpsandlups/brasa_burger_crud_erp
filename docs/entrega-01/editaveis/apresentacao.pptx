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0c63bc3cf44843" /><Relationship Type="http://schemas.openxmlformats.org/officeDocument/2006/relationships/extended-properties" Target="/docProps/app.xml" Id="R20169a9387c742a1" /><Relationship Type="http://schemas.openxmlformats.org/officeDocument/2006/relationships/officeDocument" Target="/ppt/presentation.xml" Id="R7e6745d032a04d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75e8e1cd8e480b"/>
  </p:sldMasterIdLst>
  <p:notesMasterIdLst>
    <p:notesMasterId xmlns:r="http://schemas.openxmlformats.org/officeDocument/2006/relationships" r:id="R48f2b9236e254eba"/>
  </p:notesMasterIdLst>
  <p:sldIdLst>
    <p:sldId xmlns:r="http://schemas.openxmlformats.org/officeDocument/2006/relationships" id="256" r:id="R776c4e0f28004073"/>
    <p:sldId xmlns:r="http://schemas.openxmlformats.org/officeDocument/2006/relationships" id="257" r:id="R9d8d3717dfe24bda"/>
    <p:sldId xmlns:r="http://schemas.openxmlformats.org/officeDocument/2006/relationships" id="258" r:id="Rfb20d84f37ce4aa0"/>
    <p:sldId xmlns:r="http://schemas.openxmlformats.org/officeDocument/2006/relationships" id="259" r:id="R3994d62b69374965"/>
    <p:sldId xmlns:r="http://schemas.openxmlformats.org/officeDocument/2006/relationships" id="260" r:id="R63dc89a1d2fc4b90"/>
    <p:sldId xmlns:r="http://schemas.openxmlformats.org/officeDocument/2006/relationships" id="261" r:id="Ra2d8d618b75341af"/>
    <p:sldId xmlns:r="http://schemas.openxmlformats.org/officeDocument/2006/relationships" id="262" r:id="R917c71fdffc7473a"/>
    <p:sldId xmlns:r="http://schemas.openxmlformats.org/officeDocument/2006/relationships" id="263" r:id="R376b2dc1ece94372"/>
    <p:sldId xmlns:r="http://schemas.openxmlformats.org/officeDocument/2006/relationships" id="264" r:id="R025b502a12084d9c"/>
    <p:sldId xmlns:r="http://schemas.openxmlformats.org/officeDocument/2006/relationships" id="265" r:id="R1c5ee9baa79845f4"/>
    <p:sldId xmlns:r="http://schemas.openxmlformats.org/officeDocument/2006/relationships" id="266" r:id="R4c14ac95eb034aa7"/>
    <p:sldId xmlns:r="http://schemas.openxmlformats.org/officeDocument/2006/relationships" id="267" r:id="Rdde024c9fa434c80"/>
    <p:sldId xmlns:r="http://schemas.openxmlformats.org/officeDocument/2006/relationships" id="268" r:id="R60b0482fa5f54427"/>
    <p:sldId xmlns:r="http://schemas.openxmlformats.org/officeDocument/2006/relationships" id="269" r:id="Rda05fcf2564f4e19"/>
    <p:sldId xmlns:r="http://schemas.openxmlformats.org/officeDocument/2006/relationships" id="270" r:id="R11102b7b7f6c44e6"/>
    <p:sldId xmlns:r="http://schemas.openxmlformats.org/officeDocument/2006/relationships" id="271" r:id="R3c24ded40d22422d"/>
    <p:sldId xmlns:r="http://schemas.openxmlformats.org/officeDocument/2006/relationships" id="272" r:id="R1e066ad080a14b87"/>
    <p:sldId xmlns:r="http://schemas.openxmlformats.org/officeDocument/2006/relationships" id="273" r:id="R02debf52a92e4f3e"/>
    <p:sldId xmlns:r="http://schemas.openxmlformats.org/officeDocument/2006/relationships" id="274" r:id="R7baf9161694a4dea"/>
    <p:sldId xmlns:r="http://schemas.openxmlformats.org/officeDocument/2006/relationships" id="275" r:id="R915a3c4591014d03"/>
    <p:sldId xmlns:r="http://schemas.openxmlformats.org/officeDocument/2006/relationships" id="276" r:id="R217dbe61ba6c404d"/>
    <p:sldId xmlns:r="http://schemas.openxmlformats.org/officeDocument/2006/relationships" id="277" r:id="R88fa8ddba98c4893"/>
    <p:sldId xmlns:r="http://schemas.openxmlformats.org/officeDocument/2006/relationships" id="278" r:id="Ra5c7fc7e3923476f"/>
    <p:sldId xmlns:r="http://schemas.openxmlformats.org/officeDocument/2006/relationships" id="279" r:id="R4f53dbaed6bb46f6"/>
    <p:sldId xmlns:r="http://schemas.openxmlformats.org/officeDocument/2006/relationships" id="280" r:id="Re435b52abf2044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3d4437c6924ddf" /><Relationship Type="http://schemas.openxmlformats.org/officeDocument/2006/relationships/slideMaster" Target="/ppt/slideMasters/slideMaster1.xml" Id="Rcf75e8e1cd8e480b" /><Relationship Type="http://schemas.openxmlformats.org/officeDocument/2006/relationships/notesMaster" Target="/ppt/notesMasters/notesMaster1.xml" Id="R48f2b9236e254eba" /><Relationship Type="http://schemas.openxmlformats.org/officeDocument/2006/relationships/presProps" Target="/ppt/presProps.xml" Id="Rfc7faa8b8f7940a2" /><Relationship Type="http://schemas.openxmlformats.org/officeDocument/2006/relationships/tableStyles" Target="/ppt/tableStyles.xml" Id="R1a8bdbc7c1c041e4" /><Relationship Type="http://schemas.openxmlformats.org/officeDocument/2006/relationships/slide" Target="/ppt/slides/slide1.xml" Id="R776c4e0f28004073" /><Relationship Type="http://schemas.openxmlformats.org/officeDocument/2006/relationships/slide" Target="/ppt/slides/slide2.xml" Id="R9d8d3717dfe24bda" /><Relationship Type="http://schemas.openxmlformats.org/officeDocument/2006/relationships/slide" Target="/ppt/slides/slide3.xml" Id="Rfb20d84f37ce4aa0" /><Relationship Type="http://schemas.openxmlformats.org/officeDocument/2006/relationships/slide" Target="/ppt/slides/slide4.xml" Id="R3994d62b69374965" /><Relationship Type="http://schemas.openxmlformats.org/officeDocument/2006/relationships/slide" Target="/ppt/slides/slide5.xml" Id="R63dc89a1d2fc4b90" /><Relationship Type="http://schemas.openxmlformats.org/officeDocument/2006/relationships/slide" Target="/ppt/slides/slide6.xml" Id="Ra2d8d618b75341af" /><Relationship Type="http://schemas.openxmlformats.org/officeDocument/2006/relationships/slide" Target="/ppt/slides/slide7.xml" Id="R917c71fdffc7473a" /><Relationship Type="http://schemas.openxmlformats.org/officeDocument/2006/relationships/slide" Target="/ppt/slides/slide8.xml" Id="R376b2dc1ece94372" /><Relationship Type="http://schemas.openxmlformats.org/officeDocument/2006/relationships/slide" Target="/ppt/slides/slide9.xml" Id="R025b502a12084d9c" /><Relationship Type="http://schemas.openxmlformats.org/officeDocument/2006/relationships/slide" Target="/ppt/slides/slide10.xml" Id="R1c5ee9baa79845f4" /><Relationship Type="http://schemas.openxmlformats.org/officeDocument/2006/relationships/slide" Target="/ppt/slides/slide11.xml" Id="R4c14ac95eb034aa7" /><Relationship Type="http://schemas.openxmlformats.org/officeDocument/2006/relationships/slide" Target="/ppt/slides/slide12.xml" Id="Rdde024c9fa434c80" /><Relationship Type="http://schemas.openxmlformats.org/officeDocument/2006/relationships/slide" Target="/ppt/slides/slide13.xml" Id="R60b0482fa5f54427" /><Relationship Type="http://schemas.openxmlformats.org/officeDocument/2006/relationships/slide" Target="/ppt/slides/slide14.xml" Id="Rda05fcf2564f4e19" /><Relationship Type="http://schemas.openxmlformats.org/officeDocument/2006/relationships/slide" Target="/ppt/slides/slide15.xml" Id="R11102b7b7f6c44e6" /><Relationship Type="http://schemas.openxmlformats.org/officeDocument/2006/relationships/slide" Target="/ppt/slides/slide16.xml" Id="R3c24ded40d22422d" /><Relationship Type="http://schemas.openxmlformats.org/officeDocument/2006/relationships/slide" Target="/ppt/slides/slide17.xml" Id="R1e066ad080a14b87" /><Relationship Type="http://schemas.openxmlformats.org/officeDocument/2006/relationships/slide" Target="/ppt/slides/slide18.xml" Id="R02debf52a92e4f3e" /><Relationship Type="http://schemas.openxmlformats.org/officeDocument/2006/relationships/slide" Target="/ppt/slides/slide19.xml" Id="R7baf9161694a4dea" /><Relationship Type="http://schemas.openxmlformats.org/officeDocument/2006/relationships/slide" Target="/ppt/slides/slide20.xml" Id="R915a3c4591014d03" /><Relationship Type="http://schemas.openxmlformats.org/officeDocument/2006/relationships/slide" Target="/ppt/slides/slide21.xml" Id="R217dbe61ba6c404d" /><Relationship Type="http://schemas.openxmlformats.org/officeDocument/2006/relationships/slide" Target="/ppt/slides/slide22.xml" Id="R88fa8ddba98c4893" /><Relationship Type="http://schemas.openxmlformats.org/officeDocument/2006/relationships/slide" Target="/ppt/slides/slide23.xml" Id="Ra5c7fc7e3923476f" /><Relationship Type="http://schemas.openxmlformats.org/officeDocument/2006/relationships/slide" Target="/ppt/slides/slide24.xml" Id="R4f53dbaed6bb46f6" /><Relationship Type="http://schemas.openxmlformats.org/officeDocument/2006/relationships/slide" Target="/ppt/slides/slide25.xml" Id="Re435b52abf2044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e91eb7239d4a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cc1346bbb54707" /><Relationship Type="http://schemas.openxmlformats.org/officeDocument/2006/relationships/notesMaster" Target="/ppt/notesMasters/notesMaster1.xml" Id="R20823237df7b4e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a875a6044442bc" /><Relationship Type="http://schemas.openxmlformats.org/officeDocument/2006/relationships/notesMaster" Target="/ppt/notesMasters/notesMaster1.xml" Id="R62754e3e3f3c47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07331874004ceb" /><Relationship Type="http://schemas.openxmlformats.org/officeDocument/2006/relationships/notesMaster" Target="/ppt/notesMasters/notesMaster1.xml" Id="R2ba7ea5cc9654c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2479904e9641a4" /><Relationship Type="http://schemas.openxmlformats.org/officeDocument/2006/relationships/notesMaster" Target="/ppt/notesMasters/notesMaster1.xml" Id="R357076844fab48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63bd16c0ad4177" /><Relationship Type="http://schemas.openxmlformats.org/officeDocument/2006/relationships/notesMaster" Target="/ppt/notesMasters/notesMaster1.xml" Id="R428f51f327214f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7d313ed4854f1d" /><Relationship Type="http://schemas.openxmlformats.org/officeDocument/2006/relationships/notesMaster" Target="/ppt/notesMasters/notesMaster1.xml" Id="R1c6b39413ebf4b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3f0eb5484f4220" /><Relationship Type="http://schemas.openxmlformats.org/officeDocument/2006/relationships/notesMaster" Target="/ppt/notesMasters/notesMaster1.xml" Id="Rd985311421cc40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a11b62a3c84b5d" /><Relationship Type="http://schemas.openxmlformats.org/officeDocument/2006/relationships/notesMaster" Target="/ppt/notesMasters/notesMaster1.xml" Id="R144e8ee673aa45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217f8bd8fb44b6" /><Relationship Type="http://schemas.openxmlformats.org/officeDocument/2006/relationships/notesMaster" Target="/ppt/notesMasters/notesMaster1.xml" Id="R8065a48b6b2948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45f538b1ba4a1c" /><Relationship Type="http://schemas.openxmlformats.org/officeDocument/2006/relationships/notesMaster" Target="/ppt/notesMasters/notesMaster1.xml" Id="Rfb2590d8f99a470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a4f1eecc784150" /><Relationship Type="http://schemas.openxmlformats.org/officeDocument/2006/relationships/notesMaster" Target="/ppt/notesMasters/notesMaster1.xml" Id="Rc94104932001479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18e2e223784461" /><Relationship Type="http://schemas.openxmlformats.org/officeDocument/2006/relationships/notesMaster" Target="/ppt/notesMasters/notesMaster1.xml" Id="R2fc8d988bbad4fb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90eed2396534b80" /><Relationship Type="http://schemas.openxmlformats.org/officeDocument/2006/relationships/notesMaster" Target="/ppt/notesMasters/notesMaster1.xml" Id="R1395039d6c504f9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25485396aac4abd" /><Relationship Type="http://schemas.openxmlformats.org/officeDocument/2006/relationships/notesMaster" Target="/ppt/notesMasters/notesMaster1.xml" Id="Rc6bdd19588994bb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0e7b3dc829e4dbf" /><Relationship Type="http://schemas.openxmlformats.org/officeDocument/2006/relationships/notesMaster" Target="/ppt/notesMasters/notesMaster1.xml" Id="R44915314d8674ab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6d209cec8b64f90" /><Relationship Type="http://schemas.openxmlformats.org/officeDocument/2006/relationships/notesMaster" Target="/ppt/notesMasters/notesMaster1.xml" Id="Rc403f9405272408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f673d0bbfa549c5" /><Relationship Type="http://schemas.openxmlformats.org/officeDocument/2006/relationships/notesMaster" Target="/ppt/notesMasters/notesMaster1.xml" Id="R4ab38892d27041b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c9f555b76804d30" /><Relationship Type="http://schemas.openxmlformats.org/officeDocument/2006/relationships/notesMaster" Target="/ppt/notesMasters/notesMaster1.xml" Id="R8a890ad3e8df45d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c97335766344f10" /><Relationship Type="http://schemas.openxmlformats.org/officeDocument/2006/relationships/notesMaster" Target="/ppt/notesMasters/notesMaster1.xml" Id="R1993a079ac014c0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a72d9c9dbbd46b3" /><Relationship Type="http://schemas.openxmlformats.org/officeDocument/2006/relationships/notesMaster" Target="/ppt/notesMasters/notesMaster1.xml" Id="R2d9ea1e7cc5a46f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29b42e3249340bc" /><Relationship Type="http://schemas.openxmlformats.org/officeDocument/2006/relationships/notesMaster" Target="/ppt/notesMasters/notesMaster1.xml" Id="R570733c0f554493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3df3b19816c45e7" /><Relationship Type="http://schemas.openxmlformats.org/officeDocument/2006/relationships/notesMaster" Target="/ppt/notesMasters/notesMaster1.xml" Id="Rd7ad883d7afb490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0a256df174f410c" /><Relationship Type="http://schemas.openxmlformats.org/officeDocument/2006/relationships/notesMaster" Target="/ppt/notesMasters/notesMaster1.xml" Id="R40d145fa88fe455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d5ba721140b41c6" /><Relationship Type="http://schemas.openxmlformats.org/officeDocument/2006/relationships/notesMaster" Target="/ppt/notesMasters/notesMaster1.xml" Id="Rab5787762dcb48e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e256ab9388a4cab" /><Relationship Type="http://schemas.openxmlformats.org/officeDocument/2006/relationships/notesMaster" Target="/ppt/notesMasters/notesMaster1.xml" Id="Rf42df434dab941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o projeto como sistema acadêmico de gestão para food service, com continuidade de uma base existente. Gabriel pode conduzir arquitetura e Rafaela o contexto operacional.</a:t>
            </a:r>
          </a:p>
          <a:p xmlns:a="http://schemas.openxmlformats.org/drawingml/2006/main">
            <a:r>
              <a:t>Fontes do projeto: FICHA TECNICA PROJETO.pdf e Brasa_Burguer_Apresentacao_Executiva(1).pptx, fornecidos pelos autores em 13/09/2026.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problema é a fragmentação da informação. As situações são motivações do projeto, não estatísticas de mercado.</a:t>
            </a:r>
          </a:p>
          <a:p xmlns:a="http://schemas.openxmlformats.org/drawingml/2006/main">
            <a:r>
              <a:t>Fontes do projeto: FICHA TECNICA PROJETO.pdf e Brasa_Burguer_Apresentacao_Executiva(1).pptx, fornecidos pelos autores em 13/09/2026.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o objetivo geral: organizar o fluxo do pedido até os indicadores. Há um protótipo relatado como funcional, mas a Entrega 01 pede proposta, modelagem e evidência verificável.</a:t>
            </a:r>
          </a:p>
          <a:p xmlns:a="http://schemas.openxmlformats.org/drawingml/2006/main">
            <a:r>
              <a:t>Fontes do projeto: FICHA TECNICA PROJETO.pdf e Brasa_Burguer_Apresentacao_Executiva(1).pptx, fornecidos pelos autores em 13/09/2026.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atribuir funcionalidades a semestres específicos sem commits. A documentação atual declara estas evoluções, mas código e migrações ainda precisam acompanhar a entrega.</a:t>
            </a:r>
          </a:p>
          <a:p xmlns:a="http://schemas.openxmlformats.org/drawingml/2006/main">
            <a:r>
              <a:t>Fontes do projeto: FICHA TECNICA PROJETO.pdf e Brasa_Burguer_Apresentacao_Executiva(1).pptx, fornecidos pelos autores em 13/09/2026.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captura é uma evidência anterior enviada pelos autores. Ela apresenta a base visual, não comprova todas as funções descritas na ficha técnica atual.</a:t>
            </a:r>
          </a:p>
          <a:p xmlns:a="http://schemas.openxmlformats.org/drawingml/2006/main">
            <a:r>
              <a:t>Fontes do projeto: FICHA TECNICA PROJETO.pdf e Brasa_Burguer_Apresentacao_Executiva(1).pptx, fornecidos pelos autores em 13/09/2026.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funcionalidades deste slide constam no material executivo atualizado. Explicar uma venda como fio condutor entre os módulos, sem afirmar auditoria de código.</a:t>
            </a:r>
          </a:p>
          <a:p xmlns:a="http://schemas.openxmlformats.org/drawingml/2006/main">
            <a:r>
              <a:t>Fontes do projeto: FICHA TECNICA PROJETO.pdf e Brasa_Burguer_Apresentacao_Executiva(1).pptx, fornecidos pelos autores em 13/09/2026.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a decisão: se CPF existir, selecionar cliente. Se não existir, abrir cadastro com CPF preenchido e retornar preservando o pedido. ViaCEP preenche endereço, mas deve permitir correção.</a:t>
            </a:r>
          </a:p>
          <a:p xmlns:a="http://schemas.openxmlformats.org/drawingml/2006/main">
            <a:r>
              <a:t>Fontes do projeto: FICHA TECNICA PROJETO.pdf e Brasa_Burguer_Apresentacao_Executiva(1).pptx, fornecidos pelos autores em 13/09/2026.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BaaS significa Backend as a Service. O navegador conversa com a API do Supabase. Não há servidor de aplicação próprio descrito. Python executa à parte. Node.js pode compor ferramentas de desenvolvimento, sem ser uma API de aplicação.</a:t>
            </a:r>
          </a:p>
          <a:p xmlns:a="http://schemas.openxmlformats.org/drawingml/2006/main">
            <a:r>
              <a:t>Fontes do projeto: FICHA TECNICA PROJETO.pdf e Brasa_Burguer_Apresentacao_Executiva(1).pptx, fornecidos pelos autores em 13/09/2026.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Relacionar à disciplina de Desenvolvimento em JavaScript. React trabalha com componentes, estado e eventos. O modelo de classes conceitual do domínio não prova que a aplicação usa classes JavaScript. Referência: https://react.dev/learn/thinking-in-react</a:t>
            </a:r>
          </a:p>
          <a:p xmlns:a="http://schemas.openxmlformats.org/drawingml/2006/main">
            <a:r>
              <a:t>Fontes do projeto: FICHA TECNICA PROJETO.pdf e Brasa_Burguer_Apresentacao_Executiva(1).pptx, fornecidos pelos autores em 13/09/2026.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scripts seed_data.py e seed_cardapio.py alimentam o Supabase independentemente do fluxo do usuário. MySQL é um ambiente separado de estudo analítico, não o banco da aplicação.</a:t>
            </a:r>
          </a:p>
          <a:p xmlns:a="http://schemas.openxmlformats.org/drawingml/2006/main">
            <a:r>
              <a:t>Fontes do projeto: FICHA TECNICA PROJETO.pdf e Brasa_Burguer_Apresentacao_Executiva(1).pptx, fornecidos pelos autores em 13/09/2026.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Modelo conceitual proposto para explicar responsabilidades. Não é engenharia reversa do código. Cada pedido pertence a uma loja; cada item liga um pedido a uma variação. Um produto pode ter diversas variações, como 150g e 200g.</a:t>
            </a:r>
          </a:p>
          <a:p xmlns:a="http://schemas.openxmlformats.org/drawingml/2006/main">
            <a:r>
              <a:t>Fontes do projeto: FICHA TECNICA PROJETO.pdf e Brasa_Burguer_Apresentacao_Executiva(1).pptx, fornecidos pelos autores em 13/09/2026.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Pseudocódigo conceitual derivado dos triggers descritos. A implementação deve tratar transação, concorrência, cancelamento e repetição de requisições; estes controles ainda precisam de validação.</a:t>
            </a:r>
          </a:p>
          <a:p xmlns:a="http://schemas.openxmlformats.org/drawingml/2006/main">
            <a:r>
              <a:t>Fontes do projeto: FICHA TECNICA PROJETO.pdf e Brasa_Burguer_Apresentacao_Executiva(1).pptx, fornecidos pelos autores em 13/09/2026.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 didático a partir da ficha de burger 200g da apresentação original. Não representa compra real. Para três burgers, consumo de carne é 3 vezes 200g, ou 0,6kg.</a:t>
            </a:r>
          </a:p>
          <a:p xmlns:a="http://schemas.openxmlformats.org/drawingml/2006/main">
            <a:r>
              <a:t>Fontes do projeto: FICHA TECNICA PROJETO.pdf e Brasa_Burguer_Apresentacao_Executiva(1).pptx, fornecidos pelos autores em 13/09/2026.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 didático corrigido: 8,90 dividido por 27,90 vezes 100 = 31,8996%. Margem bruta simplificada = 19 reais e 68,10%. Não é lucro líquido: não desconta taxas, tributos e despesas operacionais.</a:t>
            </a:r>
          </a:p>
          <a:p xmlns:a="http://schemas.openxmlformats.org/drawingml/2006/main">
            <a:r>
              <a:t>Fontes do projeto: FICHA TECNICA PROJETO.pdf e Brasa_Burguer_Apresentacao_Executiva(1).pptx, fornecidos pelos autores em 13/09/2026.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dimensões e fatos estão descritos na ficha. A conexão efetiva com Power BI permanece planejada. Não confundir linhas de itens com quantidade de pedidos. Views comuns executam consultas; materialized views armazenam resultados e exigem refresh. Referência: https://supabase.com/docs/guides/database/tables</a:t>
            </a:r>
          </a:p>
          <a:p xmlns:a="http://schemas.openxmlformats.org/drawingml/2006/main">
            <a:r>
              <a:t>Fontes do projeto: FICHA TECNICA PROJETO.pdf e Brasa_Burguer_Apresentacao_Executiva(1).pptx, fornecidos pelos autores em 13/09/2026.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RLS habilitado não garante isolamento correto por si só. A ficha diz que algumas políticas têm escopo por unidade. Conferir views, funções SECURITY DEFINER e acesso cruzado entre lojas. Referência: https://supabase.com/docs/guides/database/postgres/row-level-security</a:t>
            </a:r>
          </a:p>
          <a:p xmlns:a="http://schemas.openxmlformats.org/drawingml/2006/main">
            <a:r>
              <a:t>Fontes do projeto: FICHA TECNICA PROJETO.pdf e Brasa_Burguer_Apresentacao_Executiva(1).pptx, fornecidos pelos autores em 13/09/2026.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ficha mais específica prevalece sobre as afirmações gerais do deck: Supabase é utilizado, Netlify é planejado e CI/CD não está formalizado. Não prometer backup, escalabilidade ou disponibilidade sem configuração e plano verificados.</a:t>
            </a:r>
          </a:p>
          <a:p xmlns:a="http://schemas.openxmlformats.org/drawingml/2006/main">
            <a:r>
              <a:t>Fontes do projeto: FICHA TECNICA PROJETO.pdf e Brasa_Burguer_Apresentacao_Executiva(1).pptx, fornecidos pelos autores em 13/09/2026.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Gabriel cursa JavaScript, nuvem e análise OO. Algoritmos podem ser evidenciados em JS e SQL sem introduzir C, que ele já cursou. A rubrica continua exigindo programação, algoritmos e matemática. A adequação curricular deve ser validada pelo docente.</a:t>
            </a:r>
          </a:p>
          <a:p xmlns:a="http://schemas.openxmlformats.org/drawingml/2006/main">
            <a:r>
              <a:t>Fontes do projeto: FICHA TECNICA PROJETO.pdf e Brasa_Burguer_Apresentacao_Executiva(1).pptx, fornecidos pelos autores em 13/09/2026.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código original não veio nestes anexos. Os quatro testes do exemplo anterior validavam apenas um módulo demonstrativo, não a aplicação real. Nesta versão não declarar cobertura implementada. O Git não está formalizado conforme ficha técnica.</a:t>
            </a:r>
          </a:p>
          <a:p xmlns:a="http://schemas.openxmlformats.org/drawingml/2006/main">
            <a:r>
              <a:t>Fontes do projeto: FICHA TECNICA PROJETO.pdf e Brasa_Burguer_Apresentacao_Executiva(1).pptx, fornecidos pelos autores em 13/09/2026.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Organizar por entregas pequenas e concluídas. A publicação no Git precisa retratar o estado real, sem inventar commits anteriores ou contribuição individual. O ZIP acadêmico exige dois PDFs e anexos.</a:t>
            </a:r>
          </a:p>
          <a:p xmlns:a="http://schemas.openxmlformats.org/drawingml/2006/main">
            <a:r>
              <a:t>Fontes do projeto: FICHA TECNICA PROJETO.pdf e Brasa_Burguer_Apresentacao_Executiva(1).pptx, fornecidos pelos autores em 13/09/2026.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Hipótese de produto, ainda sem pesquisa de mercado ou preços validados. O alvo inicial são hamburguerias e pequenas redes. Não afirmar que concorrentes são inferiores sem evidência.</a:t>
            </a:r>
          </a:p>
          <a:p xmlns:a="http://schemas.openxmlformats.org/drawingml/2006/main">
            <a:r>
              <a:t>Fontes do projeto: FICHA TECNICA PROJETO.pdf e Brasa_Burguer_Apresentacao_Executiva(1).pptx, fornecidos pelos autores em 13/09/2026.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Planos conceituais do material executivo. Preços e aderência precisam de validação. Implantação, treinamento, migração e integrações são serviços complementares possíveis.</a:t>
            </a:r>
          </a:p>
          <a:p xmlns:a="http://schemas.openxmlformats.org/drawingml/2006/main">
            <a:r>
              <a:t>Fontes do projeto: FICHA TECNICA PROJETO.pdf e Brasa_Burguer_Apresentacao_Executiva(1).pptx, fornecidos pelos autores em 13/09/2026.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Todas as integrações deste slide são futuras, inclusive Power BI conectado. A existência de views não prova conexão ativa. LLM e previsão dependem de dados confiáveis e governança.</a:t>
            </a:r>
          </a:p>
          <a:p xmlns:a="http://schemas.openxmlformats.org/drawingml/2006/main">
            <a:r>
              <a:t>Fontes do projeto: FICHA TECNICA PROJETO.pdf e Brasa_Burguer_Apresentacao_Executiva(1).pptx, fornecidos pelos autores em 13/09/2026.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primárias do projeto são os dois anexos dos autores. Referências técnicas apoiam a explicação de React e RLS. Elas não validam a implantação específica do Brasa Burguer.</a:t>
            </a:r>
          </a:p>
          <a:p xmlns:a="http://schemas.openxmlformats.org/drawingml/2006/main">
            <a:r>
              <a:t>Fontes do projeto: FICHA TECNICA PROJETO.pdf e Brasa_Burguer_Apresentacao_Executiva(1).pptx, fornecidos pelos autores em 13/09/2026.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Encerramento: o projeto combina interface React, regras no PostgreSQL e serviços Supabase. A próxima evidência decisiva é o código real com testes e histórico. Abrir para perguntas.</a:t>
            </a:r>
          </a:p>
          <a:p xmlns:a="http://schemas.openxmlformats.org/drawingml/2006/main">
            <a:r>
              <a:t>Fontes do projeto: FICHA TECNICA PROJETO.pdf e Brasa_Burguer_Apresentacao_Executiva(1).pptx, fornecidos pelos autores em 13/09/2026.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a4bd170d3343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cddd5efd6843d1" /><Relationship Type="http://schemas.openxmlformats.org/officeDocument/2006/relationships/slideLayout" Target="/ppt/slideLayouts/slideLayout1.xml" Id="R4b5d9219089e49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5d9219089e49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cb6218e6a4ee7" /><Relationship Type="http://schemas.openxmlformats.org/officeDocument/2006/relationships/notesSlide" Target="/ppt/notesSlides/notesSlide1.xml" Id="R6f3458ffab3542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893e30aeb4b25" /><Relationship Type="http://schemas.openxmlformats.org/officeDocument/2006/relationships/notesSlide" Target="/ppt/notesSlides/notesSlide2.xml" Id="R206e8af893b445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4f0f4ecb74581" /><Relationship Type="http://schemas.openxmlformats.org/officeDocument/2006/relationships/notesSlide" Target="/ppt/notesSlides/notesSlide3.xml" Id="Rc99812cc9ddf43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a107cd8104a5b" /><Relationship Type="http://schemas.openxmlformats.org/officeDocument/2006/relationships/notesSlide" Target="/ppt/notesSlides/notesSlide4.xml" Id="Recfa1e8d30c143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af80a76074c14" /><Relationship Type="http://schemas.openxmlformats.org/officeDocument/2006/relationships/image" Target="/ppt/media/image.png" Id="R485777097fd44968" /><Relationship Type="http://schemas.openxmlformats.org/officeDocument/2006/relationships/notesSlide" Target="/ppt/notesSlides/notesSlide5.xml" Id="Rb2959eb13aeb46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32936e3054f9a" /><Relationship Type="http://schemas.openxmlformats.org/officeDocument/2006/relationships/notesSlide" Target="/ppt/notesSlides/notesSlide6.xml" Id="R0a9aa7644cef40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51bc8f9004b7a" /><Relationship Type="http://schemas.openxmlformats.org/officeDocument/2006/relationships/notesSlide" Target="/ppt/notesSlides/notesSlide7.xml" Id="R5c08a73429d449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ce35153e24033" /><Relationship Type="http://schemas.openxmlformats.org/officeDocument/2006/relationships/notesSlide" Target="/ppt/notesSlides/notesSlide8.xml" Id="Ra276c175615840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aba7da2e3436b" /><Relationship Type="http://schemas.openxmlformats.org/officeDocument/2006/relationships/notesSlide" Target="/ppt/notesSlides/notesSlide9.xml" Id="R30d1da3d29434f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a2c1b2ebd4e28" /><Relationship Type="http://schemas.openxmlformats.org/officeDocument/2006/relationships/notesSlide" Target="/ppt/notesSlides/notesSlide10.xml" Id="R3c66eac3d31344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5d615931e46c3" /><Relationship Type="http://schemas.openxmlformats.org/officeDocument/2006/relationships/notesSlide" Target="/ppt/notesSlides/notesSlide11.xml" Id="Rd50244d77b2f45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68002c907410f" /><Relationship Type="http://schemas.openxmlformats.org/officeDocument/2006/relationships/notesSlide" Target="/ppt/notesSlides/notesSlide12.xml" Id="Rebfb6fce37e0419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ed0e1c53e486d" /><Relationship Type="http://schemas.openxmlformats.org/officeDocument/2006/relationships/notesSlide" Target="/ppt/notesSlides/notesSlide13.xml" Id="R5cb22b454beb4b7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9632771124a43" /><Relationship Type="http://schemas.openxmlformats.org/officeDocument/2006/relationships/notesSlide" Target="/ppt/notesSlides/notesSlide14.xml" Id="R79da5258e9d64f9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1c235b1614a05" /><Relationship Type="http://schemas.openxmlformats.org/officeDocument/2006/relationships/notesSlide" Target="/ppt/notesSlides/notesSlide15.xml" Id="Ra06de44a10cf4fb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c0041e0604fb2" /><Relationship Type="http://schemas.openxmlformats.org/officeDocument/2006/relationships/notesSlide" Target="/ppt/notesSlides/notesSlide16.xml" Id="R1e76023e14684f1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95260a1124e9e" /><Relationship Type="http://schemas.openxmlformats.org/officeDocument/2006/relationships/notesSlide" Target="/ppt/notesSlides/notesSlide17.xml" Id="Re33e77d05ace4c5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1a0a561454f02" /><Relationship Type="http://schemas.openxmlformats.org/officeDocument/2006/relationships/notesSlide" Target="/ppt/notesSlides/notesSlide18.xml" Id="Rc8745dd07db240e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07652d8eb4b04" /><Relationship Type="http://schemas.openxmlformats.org/officeDocument/2006/relationships/notesSlide" Target="/ppt/notesSlides/notesSlide19.xml" Id="R0f95a5ed592e4ca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1369efe34444c" /><Relationship Type="http://schemas.openxmlformats.org/officeDocument/2006/relationships/notesSlide" Target="/ppt/notesSlides/notesSlide20.xml" Id="R7d6e1db41f52427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ff80bf7924059" /><Relationship Type="http://schemas.openxmlformats.org/officeDocument/2006/relationships/notesSlide" Target="/ppt/notesSlides/notesSlide21.xml" Id="R34e7e592df104ec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b517685f74306" /><Relationship Type="http://schemas.openxmlformats.org/officeDocument/2006/relationships/notesSlide" Target="/ppt/notesSlides/notesSlide22.xml" Id="Rebcdce07d0ee4ab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5df6e69fc49cc" /><Relationship Type="http://schemas.openxmlformats.org/officeDocument/2006/relationships/notesSlide" Target="/ppt/notesSlides/notesSlide23.xml" Id="Ra2650c745ad94de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567d2a18944bd" /><Relationship Type="http://schemas.openxmlformats.org/officeDocument/2006/relationships/notesSlide" Target="/ppt/notesSlides/notesSlide24.xml" Id="R094666c0e62d40f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33ae304364f7a" /><Relationship Type="http://schemas.openxmlformats.org/officeDocument/2006/relationships/notesSlide" Target="/ppt/notesSlides/notesSlide25.xml" Id="Ra422db557d5f43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1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1852B0-2AC1-49D3-9856-EF57272B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2B665"/>
                </a:solidFill>
                <a:latin typeface="Arial"/>
                <a:ea typeface="Arial"/>
                <a:cs typeface="Arial"/>
              </a:rPr>
              <a:t>FACULDADE ANHANGUERA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205C9-18A5-41D2-B32D-F644EB92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Brasa Burguer</a:t>
            </a:r>
          </a:p>
          <a:p xmlns:a="http://schemas.openxmlformats.org/drawingml/2006/main">
            <a:pPr>
              <a:defRPr sz="3450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Management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B0E4B-29DB-4222-A5AF-90D29578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2B665"/>
                </a:solidFill>
                <a:latin typeface="Arial"/>
                <a:ea typeface="Arial"/>
                <a:cs typeface="Arial"/>
              </a:rPr>
              <a:t>BRASA BURGUER  /  2026.2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6CCB0-0FB9-451B-A56C-2096BB7C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2B66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23F8A-F55B-40B3-92CB-E77F104E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1937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D8CDB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8CDBD"/>
                </a:solidFill>
                <a:latin typeface="Arial"/>
                <a:ea typeface="Arial"/>
                <a:cs typeface="Arial"/>
              </a:rPr>
              <a:t>Gestão de pedidos, custos e operação multiunidade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41388A-4B79-4DD4-9662-324331FC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2B665"/>
                </a:solidFill>
                <a:latin typeface="Arial"/>
                <a:ea typeface="Arial"/>
                <a:cs typeface="Arial"/>
              </a:rPr>
              <a:t>Proposta e modelagem integrada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EB2472-5406-42ED-908E-4E567966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0E7"/>
                </a:solidFill>
                <a:latin typeface="Arial"/>
                <a:ea typeface="Arial"/>
                <a:cs typeface="Arial"/>
              </a:rPr>
              <a:t>Gabriel Rodrigues do Prado   •   3º semestre</a:t>
            </a:r>
          </a:p>
          <a:p xmlns:a="http://schemas.openxmlformats.org/drawingml/2006/main">
            <a:pPr>
              <a:defRPr sz="1800" b="0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0E7"/>
                </a:solidFill>
                <a:latin typeface="Arial"/>
                <a:ea typeface="Arial"/>
                <a:cs typeface="Arial"/>
              </a:rPr>
              <a:t>Rafaela Rodrigues Oliveira   •   1º semestre</a:t>
            </a:r>
          </a:p>
        </p:txBody>
      </p:sp>
    </p:spTree>
    <p:extLst>
      <p:ext uri="{BB962C8B-B14F-4D97-AF65-F5344CB8AC3E}">
        <p14:creationId xmlns:p14="http://schemas.microsoft.com/office/powerpoint/2010/main" val="20196856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DD3F53-17E1-45E3-AFE0-F645689F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68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6820"/>
                </a:solidFill>
                <a:latin typeface="Arial"/>
                <a:ea typeface="Arial"/>
                <a:cs typeface="Arial"/>
              </a:rPr>
              <a:t>01  CONTEXTO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1C5E2-DAC6-4E22-8558-06E368DE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1D1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1D19"/>
                </a:solidFill>
                <a:latin typeface="Arial"/>
                <a:ea typeface="Arial"/>
                <a:cs typeface="Arial"/>
              </a:rPr>
              <a:t>O problema na operação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F4AB5-C744-43A3-8ED5-3A08E889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BRASA BURGUER  /  2026.2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C1DE7-007F-4BAE-919E-E4413D4D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3E0F2F-7FAC-46FD-8FA2-4B358EA6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318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96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B9682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65EA4-F993-4D79-AEE7-006C2223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3159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1D1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1D19"/>
                </a:solidFill>
                <a:latin typeface="Arial"/>
                <a:ea typeface="Arial"/>
                <a:cs typeface="Arial"/>
              </a:rPr>
              <a:t>Atendimento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0B1B5B-215A-49A6-8076-02A23556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11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Repetição de cadastros e dificuldade para recuperar um pedido.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55BFC-B707-4AB1-97AA-56FA3053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2333625"/>
            <a:ext cx="318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96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B9682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472D6-3AD6-4E44-9282-B6F62A02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3095625"/>
            <a:ext cx="3159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1D1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1D19"/>
                </a:solidFill>
                <a:latin typeface="Arial"/>
                <a:ea typeface="Arial"/>
                <a:cs typeface="Arial"/>
              </a:rPr>
              <a:t>Produção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BBB948-A1DA-46F5-8C01-ED78EBB1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4019550"/>
            <a:ext cx="311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Venda e consumo de ingredientes precisam compartilhar as mesmas regras.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C764E3-8C76-49E1-8B29-150EFF1E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2333625"/>
            <a:ext cx="318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96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B9682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89D0E3-EDE9-4016-AB99-77E64791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3095625"/>
            <a:ext cx="3159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1D1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1D19"/>
                </a:solidFill>
                <a:latin typeface="Arial"/>
                <a:ea typeface="Arial"/>
                <a:cs typeface="Arial"/>
              </a:rPr>
              <a:t>Gestão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9F7C8-C770-4A90-9DC9-1B7A9CE0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4019550"/>
            <a:ext cx="311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Custos, taxas e desempenho por unidade precisam ser comparáveis.</a:t>
            </a:r>
          </a:p>
        </p:txBody>
      </p:sp>
    </p:spTree>
    <p:extLst>
      <p:ext uri="{BB962C8B-B14F-4D97-AF65-F5344CB8AC3E}">
        <p14:creationId xmlns:p14="http://schemas.microsoft.com/office/powerpoint/2010/main" val="19582627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5B1221-D212-4FD3-98DE-AAF5A6AA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68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6820"/>
                </a:solidFill>
                <a:latin typeface="Arial"/>
                <a:ea typeface="Arial"/>
                <a:cs typeface="Arial"/>
              </a:rPr>
              <a:t>01  CONTEXTO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91ACF-FDF8-4143-BC30-A02EF428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1D1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1D19"/>
                </a:solidFill>
                <a:latin typeface="Arial"/>
                <a:ea typeface="Arial"/>
                <a:cs typeface="Arial"/>
              </a:rPr>
              <a:t>Objetivo e limites da proposta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C4090-E38A-4048-87D7-AD9A7202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BRASA BURGUER  /  2026.2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01968-4012-4CC8-93E6-9ECFD554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DBD59-79D7-4E6E-B672-3F92CCA5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38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01D1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01D19"/>
                </a:solidFill>
                <a:latin typeface="Arial"/>
                <a:ea typeface="Arial"/>
                <a:cs typeface="Arial"/>
              </a:rPr>
              <a:t>Integrar a operação da hamburgueria em uma aplicação web com dados compartilhados entre as unidades.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3714750"/>
          <a:ext xmlns:a="http://schemas.openxmlformats.org/drawingml/2006/main" cx="10972800" cy="2400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19750"/>
                <a:gridCol w="5353050"/>
              </a:tblGrid>
              <a:tr h="6000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B665"/>
                          </a:solidFill>
                          <a:latin typeface="Arial"/>
                          <a:ea typeface="Arial"/>
                          <a:cs typeface="Arial"/>
                        </a:rPr>
                        <a:t>Escopo principal</a:t>
                      </a:r>
                    </a:p>
                  </a:txBody>
                  <a:tcPr marL="91440" marR="91440" marT="45720" marB="45720">
                    <a:solidFill>
                      <a:srgbClr val="20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B665"/>
                          </a:solidFill>
                          <a:latin typeface="Arial"/>
                          <a:ea typeface="Arial"/>
                          <a:cs typeface="Arial"/>
                        </a:rPr>
                        <a:t>Evoluções futuras</a:t>
                      </a:r>
                    </a:p>
                  </a:txBody>
                  <a:tcPr marL="91440" marR="91440" marT="45720" marB="45720">
                    <a:solidFill>
                      <a:srgbClr val="201D19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Clientes, produtos, pedidos e histórico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Compras integradas e financeiro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Fichas técnicas, estoque e indicadores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Integrações fiscais e pagamentos reais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Autenticação e gestão por unidade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SaaS comercial, copiloto e previsão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73251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EED83-E79E-4B8C-9E91-DD88EF4F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68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6820"/>
                </a:solidFill>
                <a:latin typeface="Arial"/>
                <a:ea typeface="Arial"/>
                <a:cs typeface="Arial"/>
              </a:rPr>
              <a:t>01  CONTEXTO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63AD6-5D19-482E-B43F-B33114DB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1D1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1D19"/>
                </a:solidFill>
                <a:latin typeface="Arial"/>
                <a:ea typeface="Arial"/>
                <a:cs typeface="Arial"/>
              </a:rPr>
              <a:t>Continuidade e estado do projeto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205CA-0850-4B1C-8D34-317B1D2A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BRASA BURGUER  /  2026.2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8924A0-4B77-4AA5-A4FB-93F48CE6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5781675"/>
              </a:tblGrid>
              <a:tr h="6000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B665"/>
                          </a:solidFill>
                          <a:latin typeface="Arial"/>
                          <a:ea typeface="Arial"/>
                          <a:cs typeface="Arial"/>
                        </a:rPr>
                        <a:t>Base apresentada anteriormente</a:t>
                      </a:r>
                    </a:p>
                  </a:txBody>
                  <a:tcPr marL="91440" marR="91440" marT="45720" marB="45720">
                    <a:solidFill>
                      <a:srgbClr val="20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B665"/>
                          </a:solidFill>
                          <a:latin typeface="Arial"/>
                          <a:ea typeface="Arial"/>
                          <a:cs typeface="Arial"/>
                        </a:rPr>
                        <a:t>Atualizações informadas</a:t>
                      </a:r>
                    </a:p>
                  </a:txBody>
                  <a:tcPr marL="91440" marR="91440" marT="45720" marB="45720">
                    <a:solidFill>
                      <a:srgbClr val="201D19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Cadastros e painel inicial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React, Vite e Tailwind CSS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Clientes, produtos, pedidos e lojas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Auth, perfis e políticas RLS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Consultas gerenciais básicas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Funções, triggers e camada analítica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Protótipo local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Supabase ativo; Netlify planejado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FDDB3-ED4A-4B8A-866A-7AB418D5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968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96820"/>
                </a:solidFill>
                <a:latin typeface="Arial"/>
                <a:ea typeface="Arial"/>
                <a:cs typeface="Arial"/>
              </a:rPr>
              <a:t>A comprovação do incremento de 2026/2 depende do código, das decisões e do histórico Git.</a:t>
            </a:r>
          </a:p>
        </p:txBody>
      </p:sp>
    </p:spTree>
    <p:extLst>
      <p:ext uri="{BB962C8B-B14F-4D97-AF65-F5344CB8AC3E}">
        <p14:creationId xmlns:p14="http://schemas.microsoft.com/office/powerpoint/2010/main" val="4199141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819F9-A99F-4C8D-9306-321CBC1C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68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6820"/>
                </a:solidFill>
                <a:latin typeface="Arial"/>
                <a:ea typeface="Arial"/>
                <a:cs typeface="Arial"/>
              </a:rPr>
              <a:t>02  OPERAÇÃO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FED11-38EF-4FBF-A0E7-78A9BCE1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1D1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1D19"/>
                </a:solidFill>
                <a:latin typeface="Arial"/>
                <a:ea typeface="Arial"/>
                <a:cs typeface="Arial"/>
              </a:rPr>
              <a:t>Interface do protótipo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69AE0-4C5C-4C84-A59C-CA184B77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BRASA BURGUER  /  2026.2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3FB4F-ED5B-4E52-802B-3EC8621A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5777097fd44968"/>
          <a:stretch xmlns:a="http://schemas.openxmlformats.org/drawingml/2006/main"/>
        </p:blipFill>
        <p:spPr>
          <a:xfrm xmlns:a="http://schemas.openxmlformats.org/drawingml/2006/main">
            <a:off x="916781" y="1905000"/>
            <a:ext cx="10358438" cy="4048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ECA84-83EB-423A-A2F6-2111BDDA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Registro anterior do painel. Os valores são dados do protótipo.</a:t>
            </a:r>
          </a:p>
        </p:txBody>
      </p:sp>
    </p:spTree>
    <p:extLst>
      <p:ext uri="{BB962C8B-B14F-4D97-AF65-F5344CB8AC3E}">
        <p14:creationId xmlns:p14="http://schemas.microsoft.com/office/powerpoint/2010/main" val="8357711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8A1B9-1767-42E2-A3FA-E9685CB6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68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6820"/>
                </a:solidFill>
                <a:latin typeface="Arial"/>
                <a:ea typeface="Arial"/>
                <a:cs typeface="Arial"/>
              </a:rPr>
              <a:t>02  OPERAÇÃO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EEAB5-B100-4C52-A39D-0FB83ECE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1D1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1D19"/>
                </a:solidFill>
                <a:latin typeface="Arial"/>
                <a:ea typeface="Arial"/>
                <a:cs typeface="Arial"/>
              </a:rPr>
              <a:t>Recursos descritos na versão atual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981A74-C9BB-4CE7-A70A-98A1B741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BRASA BURGUER  /  2026.2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B862A4-77AA-49DD-9B6C-74B165D9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6000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B665"/>
                          </a:solidFill>
                          <a:latin typeface="Arial"/>
                          <a:ea typeface="Arial"/>
                          <a:cs typeface="Arial"/>
                        </a:rPr>
                        <a:t>Atendimento</a:t>
                      </a:r>
                    </a:p>
                  </a:txBody>
                  <a:tcPr marL="91440" marR="91440" marT="45720" marB="45720">
                    <a:solidFill>
                      <a:srgbClr val="20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B665"/>
                          </a:solidFill>
                          <a:latin typeface="Arial"/>
                          <a:ea typeface="Arial"/>
                          <a:cs typeface="Arial"/>
                        </a:rPr>
                        <a:t>Operação</a:t>
                      </a:r>
                    </a:p>
                  </a:txBody>
                  <a:tcPr marL="91440" marR="91440" marT="45720" marB="45720">
                    <a:solidFill>
                      <a:srgbClr val="20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B665"/>
                          </a:solidFill>
                          <a:latin typeface="Arial"/>
                          <a:ea typeface="Arial"/>
                          <a:cs typeface="Arial"/>
                        </a:rPr>
                        <a:t>Gestão</a:t>
                      </a:r>
                    </a:p>
                  </a:txBody>
                  <a:tcPr marL="91440" marR="91440" marT="45720" marB="45720">
                    <a:solidFill>
                      <a:srgbClr val="201D19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Login e 7 perfis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Fichas técnicas e adicionais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Dashboard e indicadores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Pedidos em Kanban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Baixa automática de estoque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Histórico com filtros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Cadastro por CPF e CEP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Estoque por unidade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Dimensões e fatos analíticos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Perfil e histórico do cliente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Cardápio com variações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Visão consolidada de 3 lojas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55503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E48110-E53C-4119-9C74-AE786FF5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68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6820"/>
                </a:solidFill>
                <a:latin typeface="Arial"/>
                <a:ea typeface="Arial"/>
                <a:cs typeface="Arial"/>
              </a:rPr>
              <a:t>02  OPERAÇÃO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6A333-8B5A-4383-BC17-261569D9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1D1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1D19"/>
                </a:solidFill>
                <a:latin typeface="Arial"/>
                <a:ea typeface="Arial"/>
                <a:cs typeface="Arial"/>
              </a:rPr>
              <a:t>Cadastro durante o pedido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C7463A-3E41-447E-9628-1C86C331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BRASA BURGUER  /  2026.2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439C5-1BCB-42CD-B973-8EAA9141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5D1E10-7DC3-4FBB-B579-9B539644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318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96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B9682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C6256-2992-4404-A077-34887ABA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3159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1D1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1D19"/>
                </a:solidFill>
                <a:latin typeface="Arial"/>
                <a:ea typeface="Arial"/>
                <a:cs typeface="Arial"/>
              </a:rPr>
              <a:t>Identificar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6644D-CE4E-430B-B1C1-B5DB2F02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11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O operador informa o CPF e o sistema consulta o cliente.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70209-6FD7-40C6-BC55-13A944DE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2333625"/>
            <a:ext cx="318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96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B9682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25FDA-B04C-43A7-BA50-21EA73D3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3095625"/>
            <a:ext cx="3159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1D1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1D19"/>
                </a:solidFill>
                <a:latin typeface="Arial"/>
                <a:ea typeface="Arial"/>
                <a:cs typeface="Arial"/>
              </a:rPr>
              <a:t>Cadastrar se necessário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3A6B3F-6C39-4B23-8BA2-A39ABF13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4019550"/>
            <a:ext cx="311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O formulário recebe o CPF já digitado. ViaCEP auxilia no endereço.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5B5A4-F2C9-4B15-8BFA-CBB20DE7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2333625"/>
            <a:ext cx="318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96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B9682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B8EE0-88F0-4D13-97CE-18590D96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3095625"/>
            <a:ext cx="3159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1D1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1D19"/>
                </a:solidFill>
                <a:latin typeface="Arial"/>
                <a:ea typeface="Arial"/>
                <a:cs typeface="Arial"/>
              </a:rPr>
              <a:t>Retomar a venda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AF58C9-635B-4DB5-BA2F-D6DBFDA0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4019550"/>
            <a:ext cx="311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O pedido continua com o cliente selecionado e seus itens preservados.</a:t>
            </a:r>
          </a:p>
        </p:txBody>
      </p:sp>
    </p:spTree>
    <p:extLst>
      <p:ext uri="{BB962C8B-B14F-4D97-AF65-F5344CB8AC3E}">
        <p14:creationId xmlns:p14="http://schemas.microsoft.com/office/powerpoint/2010/main" val="21466942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01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564981-4CCF-44B7-B6E3-CEA43B55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2B665"/>
                </a:solidFill>
                <a:latin typeface="Arial"/>
                <a:ea typeface="Arial"/>
                <a:cs typeface="Arial"/>
              </a:rPr>
              <a:t>03  TECNOLOGIA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5F7A3-E9DC-4F26-A6F6-93E9FF14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Arquitetura real do sistema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DB837E-8170-46F4-9B58-8EB01898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2B665"/>
                </a:solidFill>
                <a:latin typeface="Arial"/>
                <a:ea typeface="Arial"/>
                <a:cs typeface="Arial"/>
              </a:rPr>
              <a:t>BRASA BURGUER  /  2026.2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930AE-C769-454C-A76B-8488A5BA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2B66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22A941-9655-4349-B564-9BACBA1C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048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291F"/>
          </a:solidFill>
          <a:ln xmlns:a="http://schemas.openxmlformats.org/drawingml/2006/main" w="19050">
            <a:solidFill>
              <a:srgbClr val="F2B66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842831-94F4-4536-AEED-A162F5F2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2B665"/>
                </a:solidFill>
                <a:latin typeface="Arial"/>
                <a:ea typeface="Arial"/>
                <a:cs typeface="Arial"/>
              </a:rPr>
              <a:t>Navegador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62D89-5B38-48A0-A6B4-0A568F43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2705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0E7"/>
                </a:solidFill>
                <a:latin typeface="Arial"/>
                <a:ea typeface="Arial"/>
                <a:cs typeface="Arial"/>
              </a:rPr>
              <a:t>React + Vite + Tailwind</a:t>
            </a:r>
          </a:p>
          <a:p xmlns:a="http://schemas.openxmlformats.org/drawingml/2006/main">
            <a:pPr>
              <a:defRPr sz="1575" b="0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0E7"/>
                </a:solidFill>
                <a:latin typeface="Arial"/>
                <a:ea typeface="Arial"/>
                <a:cs typeface="Arial"/>
              </a:rPr>
              <a:t>Interface e eventos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9D798D-B752-4D01-BCCD-344451E1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90750"/>
            <a:ext cx="3048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291F"/>
          </a:solidFill>
          <a:ln xmlns:a="http://schemas.openxmlformats.org/drawingml/2006/main" w="19050">
            <a:solidFill>
              <a:srgbClr val="F2B66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0EBBDB-3C6D-4D56-B45E-7F4FC862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34315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2B665"/>
                </a:solidFill>
                <a:latin typeface="Arial"/>
                <a:ea typeface="Arial"/>
                <a:cs typeface="Arial"/>
              </a:rPr>
              <a:t>PostgREST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BD3CAC-1B92-4799-B19E-6104003E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800350"/>
            <a:ext cx="2705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0E7"/>
                </a:solidFill>
                <a:latin typeface="Arial"/>
                <a:ea typeface="Arial"/>
                <a:cs typeface="Arial"/>
              </a:rPr>
              <a:t>API REST autenticada</a:t>
            </a:r>
          </a:p>
          <a:p xmlns:a="http://schemas.openxmlformats.org/drawingml/2006/main">
            <a:pPr>
              <a:defRPr sz="1575" b="0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0E7"/>
                </a:solidFill>
                <a:latin typeface="Arial"/>
                <a:ea typeface="Arial"/>
                <a:cs typeface="Arial"/>
              </a:rPr>
              <a:t>Supabase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6AC69C-D799-4863-A5BC-B1747DE1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90750"/>
            <a:ext cx="3048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291F"/>
          </a:solidFill>
          <a:ln xmlns:a="http://schemas.openxmlformats.org/drawingml/2006/main" w="19050">
            <a:solidFill>
              <a:srgbClr val="F2B66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928251-5037-48FD-BC91-FF8238E8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4315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2B665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0E8F84-D55D-4DE1-A756-C6E65064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00350"/>
            <a:ext cx="2705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0E7"/>
                </a:solidFill>
                <a:latin typeface="Arial"/>
                <a:ea typeface="Arial"/>
                <a:cs typeface="Arial"/>
              </a:rPr>
              <a:t>Dados, funções e triggers</a:t>
            </a:r>
          </a:p>
          <a:p xmlns:a="http://schemas.openxmlformats.org/drawingml/2006/main">
            <a:pPr>
              <a:defRPr sz="1575" b="0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0E7"/>
                </a:solidFill>
                <a:latin typeface="Arial"/>
                <a:ea typeface="Arial"/>
                <a:cs typeface="Arial"/>
              </a:rPr>
              <a:t>Regras de negócio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6312BF-5192-4712-9EF3-7B72BDAF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24150"/>
            <a:ext cx="4572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B66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E36B95-1D3B-477B-8A6D-EC9CCDB9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24150"/>
            <a:ext cx="4572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B66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BE9297-0630-4D64-A301-485B0E16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0E7"/>
                </a:solidFill>
                <a:latin typeface="Arial"/>
                <a:ea typeface="Arial"/>
                <a:cs typeface="Arial"/>
              </a:rPr>
              <a:t>Python envia seeds e simulações à API de forma independente.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04572D-5892-4F92-950A-32A508F7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2B665"/>
                </a:solidFill>
                <a:latin typeface="Arial"/>
                <a:ea typeface="Arial"/>
                <a:cs typeface="Arial"/>
              </a:rPr>
              <a:t>Auth identifica. RBAC define ações. RLS filtra o acesso às linhas.</a:t>
            </a:r>
          </a:p>
        </p:txBody>
      </p:sp>
    </p:spTree>
    <p:extLst>
      <p:ext uri="{BB962C8B-B14F-4D97-AF65-F5344CB8AC3E}">
        <p14:creationId xmlns:p14="http://schemas.microsoft.com/office/powerpoint/2010/main" val="17288734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CBC705-9B23-445E-A0A3-95F3BE52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68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6820"/>
                </a:solidFill>
                <a:latin typeface="Arial"/>
                <a:ea typeface="Arial"/>
                <a:cs typeface="Arial"/>
              </a:rPr>
              <a:t>03  TECNOLOGIA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C36BF-A8F3-4635-BEC4-D0D0036F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1D1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1D19"/>
                </a:solidFill>
                <a:latin typeface="Arial"/>
                <a:ea typeface="Arial"/>
                <a:cs typeface="Arial"/>
              </a:rPr>
              <a:t>JavaScript na interface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AFD2B-3482-472C-BB12-B3034E03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BRASA BURGUER  /  2026.2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D75B3-A7ED-4D4A-9E86-A3B5916F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5BB15-26EB-474B-B3F1-76DD3F86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318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96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B9682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3EE71-4814-471A-9E0B-248F7E03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3159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1D1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1D19"/>
                </a:solidFill>
                <a:latin typeface="Arial"/>
                <a:ea typeface="Arial"/>
                <a:cs typeface="Arial"/>
              </a:rPr>
              <a:t>Componentes React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116FE-FCC4-4E84-8171-3608EA47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11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Formulários, filtros e detalhes do pedido podem compartilhar elementos.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41E8C2-1117-41AA-B124-DF83E2D8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2333625"/>
            <a:ext cx="318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96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B9682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04DDF-E42A-4720-91B5-B78B8AF5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3095625"/>
            <a:ext cx="3159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1D1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1D19"/>
                </a:solidFill>
                <a:latin typeface="Arial"/>
                <a:ea typeface="Arial"/>
                <a:cs typeface="Arial"/>
              </a:rPr>
              <a:t>Eventos e estado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06EC3-9EB5-49C3-88E1-33F22F69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4019550"/>
            <a:ext cx="311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Alterações em itens e filtros atualizam a informação exibida.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C65620-DDF2-432F-8D7F-8386F9C5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2333625"/>
            <a:ext cx="318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96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B9682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4EE4BB-2D33-4651-B2A1-6253DC36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3095625"/>
            <a:ext cx="3159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1D1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1D19"/>
                </a:solidFill>
                <a:latin typeface="Arial"/>
                <a:ea typeface="Arial"/>
                <a:cs typeface="Arial"/>
              </a:rPr>
              <a:t>Bibliotecas de apoio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F1B0B-0F6F-4DF8-93D1-B57802E0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4019550"/>
            <a:ext cx="311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React Router organiza páginas. Recharts apresenta gráficos.</a:t>
            </a:r>
          </a:p>
        </p:txBody>
      </p:sp>
    </p:spTree>
    <p:extLst>
      <p:ext uri="{BB962C8B-B14F-4D97-AF65-F5344CB8AC3E}">
        <p14:creationId xmlns:p14="http://schemas.microsoft.com/office/powerpoint/2010/main" val="15602827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CA44C-D670-42F1-8E10-903BD519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68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6820"/>
                </a:solidFill>
                <a:latin typeface="Arial"/>
                <a:ea typeface="Arial"/>
                <a:cs typeface="Arial"/>
              </a:rPr>
              <a:t>03  TECNOLOGIA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CBE3D-8EC2-4161-901E-C2977BF2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1D1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1D19"/>
                </a:solidFill>
                <a:latin typeface="Arial"/>
                <a:ea typeface="Arial"/>
                <a:cs typeface="Arial"/>
              </a:rPr>
              <a:t>Python e APIs no projeto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F4072-B8DF-49AF-95A2-A8A25AC0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BRASA BURGUER  /  2026.2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604E6-3538-48DE-A205-2A11A617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619625"/>
                <a:gridCol w="4019550"/>
              </a:tblGrid>
              <a:tr h="6000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B665"/>
                          </a:solidFill>
                          <a:latin typeface="Arial"/>
                          <a:ea typeface="Arial"/>
                          <a:cs typeface="Arial"/>
                        </a:rPr>
                        <a:t>Recurso</a:t>
                      </a:r>
                    </a:p>
                  </a:txBody>
                  <a:tcPr marL="91440" marR="91440" marT="45720" marB="45720">
                    <a:solidFill>
                      <a:srgbClr val="20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B665"/>
                          </a:solidFill>
                          <a:latin typeface="Arial"/>
                          <a:ea typeface="Arial"/>
                          <a:cs typeface="Arial"/>
                        </a:rPr>
                        <a:t>Uso atual informado</a:t>
                      </a:r>
                    </a:p>
                  </a:txBody>
                  <a:tcPr marL="91440" marR="91440" marT="45720" marB="45720">
                    <a:solidFill>
                      <a:srgbClr val="20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B665"/>
                          </a:solidFill>
                          <a:latin typeface="Arial"/>
                          <a:ea typeface="Arial"/>
                          <a:cs typeface="Arial"/>
                        </a:rPr>
                        <a:t>Limite</a:t>
                      </a:r>
                    </a:p>
                  </a:txBody>
                  <a:tcPr marL="91440" marR="91440" marT="45720" marB="45720">
                    <a:solidFill>
                      <a:srgbClr val="201D19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Python 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Seeds e simulação com sazonalidade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ETL ampliado permanece futuro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PostgREST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CRUD pela API gerada do schema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Autorização depende das políticas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Supabase Auth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Login, sessão e criação de usuário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Permissão é distinta de autenticação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ViaCEP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Busca de endereço pelo CEP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Tratar indisponibilidade e correção manual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92408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6C33E-4373-4EB3-97E9-F68111D7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68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6820"/>
                </a:solidFill>
                <a:latin typeface="Arial"/>
                <a:ea typeface="Arial"/>
                <a:cs typeface="Arial"/>
              </a:rPr>
              <a:t>04  MODELAGEM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6E106-4A0A-45C7-8A32-4333DADB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1D1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1D19"/>
                </a:solidFill>
                <a:latin typeface="Arial"/>
                <a:ea typeface="Arial"/>
                <a:cs typeface="Arial"/>
              </a:rPr>
              <a:t>Modelagem orientada a objetos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2FEDB-807E-448C-9245-F363C29A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BRASA BURGUER  /  2026.2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54E52-6794-428A-A98D-43E5FD6A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600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048125"/>
                <a:gridCol w="4543425"/>
              </a:tblGrid>
              <a:tr h="6000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B665"/>
                          </a:solidFill>
                          <a:latin typeface="Arial"/>
                          <a:ea typeface="Arial"/>
                          <a:cs typeface="Arial"/>
                        </a:rPr>
                        <a:t>Objeto do domínio</a:t>
                      </a:r>
                    </a:p>
                  </a:txBody>
                  <a:tcPr marL="91440" marR="91440" marT="45720" marB="45720">
                    <a:solidFill>
                      <a:srgbClr val="20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B665"/>
                          </a:solidFill>
                          <a:latin typeface="Arial"/>
                          <a:ea typeface="Arial"/>
                          <a:cs typeface="Arial"/>
                        </a:rPr>
                        <a:t>Responsabilidade</a:t>
                      </a:r>
                    </a:p>
                  </a:txBody>
                  <a:tcPr marL="91440" marR="91440" marT="45720" marB="45720">
                    <a:solidFill>
                      <a:srgbClr val="20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B665"/>
                          </a:solidFill>
                          <a:latin typeface="Arial"/>
                          <a:ea typeface="Arial"/>
                          <a:cs typeface="Arial"/>
                        </a:rPr>
                        <a:t>Relação principal</a:t>
                      </a:r>
                    </a:p>
                  </a:txBody>
                  <a:tcPr marL="91440" marR="91440" marT="45720" marB="45720">
                    <a:solidFill>
                      <a:srgbClr val="201D19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Cliente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Identificar comprador e contato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1 cliente possui 0..* pedidos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Pedido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Agrupar venda, estado e valores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1 pedido possui 1..* itens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ItemPedido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Guardar quantidade e preço da venda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Cada item referencia 1 variação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Produto / Variação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Separar identidade e tamanho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1 produto possui 1..* variações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Loja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Definir a unidade da operação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1 loja possui 0..* pedidos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58753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01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5DC1F-541C-43DF-9515-D755DD18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2B665"/>
                </a:solidFill>
                <a:latin typeface="Arial"/>
                <a:ea typeface="Arial"/>
                <a:cs typeface="Arial"/>
              </a:rPr>
              <a:t>04  MODELAGEM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0CDD3-6456-4399-BD7B-9B07F3C7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Algoritmo da baixa de estoque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A6623-F584-44A1-B042-C047E247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2B665"/>
                </a:solidFill>
                <a:latin typeface="Arial"/>
                <a:ea typeface="Arial"/>
                <a:cs typeface="Arial"/>
              </a:rPr>
              <a:t>BRASA BURGUER  /  2026.2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A77BA-C780-4C7A-BE53-FA63C3D4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2B66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84FF7-C0BA-44B6-A230-5E58472C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714375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0E7"/>
                </a:solidFill>
                <a:latin typeface="Arial"/>
                <a:ea typeface="Arial"/>
                <a:cs typeface="Arial"/>
              </a:rPr>
              <a:t>AO INSERIR um item de pedido</a:t>
            </a:r>
          </a:p>
          <a:p xmlns:a="http://schemas.openxmlformats.org/drawingml/2006/main">
            <a:pPr>
              <a:defRPr sz="2175" b="0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0E7"/>
                </a:solidFill>
                <a:latin typeface="Arial"/>
                <a:ea typeface="Arial"/>
                <a:cs typeface="Arial"/>
              </a:rPr>
              <a:t>  consultar a ficha da variação</a:t>
            </a:r>
          </a:p>
          <a:p xmlns:a="http://schemas.openxmlformats.org/drawingml/2006/main">
            <a:pPr>
              <a:defRPr sz="2175" b="0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0E7"/>
                </a:solidFill>
                <a:latin typeface="Arial"/>
                <a:ea typeface="Arial"/>
                <a:cs typeface="Arial"/>
              </a:rPr>
              <a:t>  PARA CADA ingrediente da ficha</a:t>
            </a:r>
          </a:p>
          <a:p xmlns:a="http://schemas.openxmlformats.org/drawingml/2006/main">
            <a:pPr>
              <a:defRPr sz="2175" b="0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0E7"/>
                </a:solidFill>
                <a:latin typeface="Arial"/>
                <a:ea typeface="Arial"/>
                <a:cs typeface="Arial"/>
              </a:rPr>
              <a:t>    consumo = quantidade × porção</a:t>
            </a:r>
          </a:p>
          <a:p xmlns:a="http://schemas.openxmlformats.org/drawingml/2006/main">
            <a:pPr>
              <a:defRPr sz="2175" b="0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0E7"/>
                </a:solidFill>
                <a:latin typeface="Arial"/>
                <a:ea typeface="Arial"/>
                <a:cs typeface="Arial"/>
              </a:rPr>
              <a:t>    atualizar estoque da loja</a:t>
            </a:r>
          </a:p>
          <a:p xmlns:a="http://schemas.openxmlformats.org/drawingml/2006/main">
            <a:pPr>
              <a:defRPr sz="2175" b="0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0E7"/>
                </a:solidFill>
                <a:latin typeface="Arial"/>
                <a:ea typeface="Arial"/>
                <a:cs typeface="Arial"/>
              </a:rPr>
              <a:t>  processar os adicionais escolhidos</a:t>
            </a:r>
          </a:p>
          <a:p xmlns:a="http://schemas.openxmlformats.org/drawingml/2006/main">
            <a:pPr>
              <a:defRPr sz="2175" b="0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0E7"/>
                </a:solidFill>
                <a:latin typeface="Arial"/>
                <a:ea typeface="Arial"/>
                <a:cs typeface="Arial"/>
              </a:rPr>
              <a:t>FIM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F43CF-31B0-4EA1-8076-32703F0C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71700"/>
            <a:ext cx="33813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2B665"/>
                </a:solidFill>
                <a:latin typeface="Arial"/>
                <a:ea typeface="Arial"/>
                <a:cs typeface="Arial"/>
              </a:rPr>
              <a:t>Seleção</a:t>
            </a:r>
          </a:p>
          <a:p xmlns:a="http://schemas.openxmlformats.org/drawingml/2006/main">
            <a:pPr>
              <a:defRPr sz="1875" b="0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2B665"/>
                </a:solidFill>
                <a:latin typeface="Arial"/>
                <a:ea typeface="Arial"/>
                <a:cs typeface="Arial"/>
              </a:rPr>
              <a:t>Validar unidade e atendimento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2B665"/>
                </a:solidFill>
                <a:latin typeface="Arial"/>
                <a:ea typeface="Arial"/>
                <a:cs typeface="Arial"/>
              </a:rPr>
              <a:t>Repetição</a:t>
            </a:r>
          </a:p>
          <a:p xmlns:a="http://schemas.openxmlformats.org/drawingml/2006/main">
            <a:pPr>
              <a:defRPr sz="1875" b="0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2B665"/>
                </a:solidFill>
                <a:latin typeface="Arial"/>
                <a:ea typeface="Arial"/>
                <a:cs typeface="Arial"/>
              </a:rPr>
              <a:t>Percorrer ingredientes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2B665"/>
                </a:solidFill>
                <a:latin typeface="Arial"/>
                <a:ea typeface="Arial"/>
                <a:cs typeface="Arial"/>
              </a:rPr>
              <a:t>Modularização</a:t>
            </a:r>
          </a:p>
          <a:p xmlns:a="http://schemas.openxmlformats.org/drawingml/2006/main">
            <a:pPr>
              <a:defRPr sz="1875" b="0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2B665"/>
                </a:solidFill>
                <a:latin typeface="Arial"/>
                <a:ea typeface="Arial"/>
                <a:cs typeface="Arial"/>
              </a:rPr>
              <a:t>Funções e triggers</a:t>
            </a:r>
          </a:p>
        </p:txBody>
      </p:sp>
    </p:spTree>
    <p:extLst>
      <p:ext uri="{BB962C8B-B14F-4D97-AF65-F5344CB8AC3E}">
        <p14:creationId xmlns:p14="http://schemas.microsoft.com/office/powerpoint/2010/main" val="8886256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2B285-8D45-4786-A027-FCDFF968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68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6820"/>
                </a:solidFill>
                <a:latin typeface="Arial"/>
                <a:ea typeface="Arial"/>
                <a:cs typeface="Arial"/>
              </a:rPr>
              <a:t>04  MODELAGEM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00833-C147-47BB-9CF1-663155ED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1D1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1D19"/>
                </a:solidFill>
                <a:latin typeface="Arial"/>
                <a:ea typeface="Arial"/>
                <a:cs typeface="Arial"/>
              </a:rPr>
              <a:t>Ficha técnica e consumo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1C54E-3F63-4A61-B9F1-E5EE053B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BRASA BURGUER  /  2026.2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47FB9-18A6-4B8D-8E70-2D28F0D6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2476500"/>
                <a:gridCol w="3733800"/>
              </a:tblGrid>
              <a:tr h="530679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B665"/>
                          </a:solidFill>
                          <a:latin typeface="Arial"/>
                          <a:ea typeface="Arial"/>
                          <a:cs typeface="Arial"/>
                        </a:rPr>
                        <a:t>Ingrediente</a:t>
                      </a:r>
                    </a:p>
                  </a:txBody>
                  <a:tcPr marL="91440" marR="91440" marT="45720" marB="45720">
                    <a:solidFill>
                      <a:srgbClr val="20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B665"/>
                          </a:solidFill>
                          <a:latin typeface="Arial"/>
                          <a:ea typeface="Arial"/>
                          <a:cs typeface="Arial"/>
                        </a:rPr>
                        <a:t>Por burger</a:t>
                      </a:r>
                    </a:p>
                  </a:txBody>
                  <a:tcPr marL="91440" marR="91440" marT="45720" marB="45720">
                    <a:solidFill>
                      <a:srgbClr val="20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B665"/>
                          </a:solidFill>
                          <a:latin typeface="Arial"/>
                          <a:ea typeface="Arial"/>
                          <a:cs typeface="Arial"/>
                        </a:rPr>
                        <a:t>Pedido com 3 burgers</a:t>
                      </a:r>
                    </a:p>
                  </a:txBody>
                  <a:tcPr marL="91440" marR="91440" marT="45720" marB="45720">
                    <a:solidFill>
                      <a:srgbClr val="201D19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Carne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600 g = 0,60 kg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Pão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1 unidade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3 unidades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Cheddar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20 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60 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Molho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15 g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45 g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Cebola caramelizada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25 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75 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Embalagem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1 unidade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3 unidades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56786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201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1B3F23-D286-4763-9C5D-309F42C6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2B665"/>
                </a:solidFill>
                <a:latin typeface="Arial"/>
                <a:ea typeface="Arial"/>
                <a:cs typeface="Arial"/>
              </a:rPr>
              <a:t>04  MODELAGEM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80792-6285-444F-8A68-767712EF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CMV e margem do produto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D579E3-7048-4C66-A05A-C33CCA48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2B665"/>
                </a:solidFill>
                <a:latin typeface="Arial"/>
                <a:ea typeface="Arial"/>
                <a:cs typeface="Arial"/>
              </a:rPr>
              <a:t>BRASA BURGUER  /  2026.2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E6FFD-258C-43B2-AAA8-A79FE1E4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2B66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75F893-C781-4B09-AE5C-BFB367E7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R$ 27,90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4B5AC-F886-4029-BE02-5F12E5E0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B665"/>
                </a:solidFill>
                <a:latin typeface="Arial"/>
                <a:ea typeface="Arial"/>
                <a:cs typeface="Arial"/>
              </a:rPr>
              <a:t>PREÇO DE VENDA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3DF73-B657-4D7E-987B-D07BB42C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5265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R$ 8,90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9DBA4-E660-4AE2-93B8-FBF98C36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289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B665"/>
                </a:solidFill>
                <a:latin typeface="Arial"/>
                <a:ea typeface="Arial"/>
                <a:cs typeface="Arial"/>
              </a:rPr>
              <a:t>CUSTO DA FICHA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45217-13AD-4750-A117-16D640AE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B665"/>
                </a:solidFill>
                <a:latin typeface="Arial"/>
                <a:ea typeface="Arial"/>
                <a:cs typeface="Arial"/>
              </a:rPr>
              <a:t>CMV = 8,90 ÷ 27,90 × 100 = 31,90%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18013D-E075-422B-9F86-659015C3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Margem bruta = R$ 19,00  /  68,10%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13F4B0-951C-4361-8BB0-B0A4ECCC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8CDB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CDBD"/>
                </a:solidFill>
                <a:latin typeface="Arial"/>
                <a:ea typeface="Arial"/>
                <a:cs typeface="Arial"/>
              </a:rPr>
              <a:t>Exemplo didático. Taxas e despesas operacionais não entram neste cálculo.</a:t>
            </a:r>
          </a:p>
        </p:txBody>
      </p:sp>
    </p:spTree>
    <p:extLst>
      <p:ext uri="{BB962C8B-B14F-4D97-AF65-F5344CB8AC3E}">
        <p14:creationId xmlns:p14="http://schemas.microsoft.com/office/powerpoint/2010/main" val="2850160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F17CE-A599-44A7-B070-1FB20BD4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68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6820"/>
                </a:solidFill>
                <a:latin typeface="Arial"/>
                <a:ea typeface="Arial"/>
                <a:cs typeface="Arial"/>
              </a:rPr>
              <a:t>05  DADOS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ACD69-BE90-40D4-9397-3135367E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1D1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1D19"/>
                </a:solidFill>
                <a:latin typeface="Arial"/>
                <a:ea typeface="Arial"/>
                <a:cs typeface="Arial"/>
              </a:rPr>
              <a:t>Indicadores e camada analítica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D1ADE-6831-4BCC-80DD-35D3A155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BRASA BURGUER  /  2026.2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3A838-93A3-4EFF-9CBB-67D14428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0972800" cy="3600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5734050"/>
              </a:tblGrid>
              <a:tr h="6000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B665"/>
                          </a:solidFill>
                          <a:latin typeface="Arial"/>
                          <a:ea typeface="Arial"/>
                          <a:cs typeface="Arial"/>
                        </a:rPr>
                        <a:t>Objeto</a:t>
                      </a:r>
                    </a:p>
                  </a:txBody>
                  <a:tcPr marL="91440" marR="91440" marT="45720" marB="45720">
                    <a:solidFill>
                      <a:srgbClr val="20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B665"/>
                          </a:solidFill>
                          <a:latin typeface="Arial"/>
                          <a:ea typeface="Arial"/>
                          <a:cs typeface="Arial"/>
                        </a:rPr>
                        <a:t>Pergunta que ajuda a responder</a:t>
                      </a:r>
                    </a:p>
                  </a:txBody>
                  <a:tcPr marL="91440" marR="91440" marT="45720" marB="45720">
                    <a:solidFill>
                      <a:srgbClr val="201D19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vw_vendas_por_loja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Quanto cada unidade vende e qual seu ticket?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vw_custo_variacao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Qual o custo e a margem de cada variação?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vw_ranking_produtos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Quais produtos concentram as vendas?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dim_*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Por data, loja, cliente, produto e canal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fato_vendas / fato_itens_venda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Qual o resultado do pedido e de cada item?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D9BFB-94D0-44B8-97D4-B86EC3E0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968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96820"/>
                </a:solidFill>
                <a:latin typeface="Arial"/>
                <a:ea typeface="Arial"/>
                <a:cs typeface="Arial"/>
              </a:rPr>
              <a:t>Ticket médio = faturamento do período ÷ número de pedidos elegíveis.</a:t>
            </a:r>
          </a:p>
        </p:txBody>
      </p:sp>
    </p:spTree>
    <p:extLst>
      <p:ext uri="{BB962C8B-B14F-4D97-AF65-F5344CB8AC3E}">
        <p14:creationId xmlns:p14="http://schemas.microsoft.com/office/powerpoint/2010/main" val="17052803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E0913-F7E3-4784-B127-CFF0C171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68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6820"/>
                </a:solidFill>
                <a:latin typeface="Arial"/>
                <a:ea typeface="Arial"/>
                <a:cs typeface="Arial"/>
              </a:rPr>
              <a:t>05  DADOS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E6DB8-78EB-45A6-9DEE-B7CDEA81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1D1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1D19"/>
                </a:solidFill>
                <a:latin typeface="Arial"/>
                <a:ea typeface="Arial"/>
                <a:cs typeface="Arial"/>
              </a:rPr>
              <a:t>Segurança por usuário e unidade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019EF-A999-488C-83FB-5692BF74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BRASA BURGUER  /  2026.2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C81420-EEF1-4A7C-A2A0-0D1192C0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FDB94-EE77-4543-82D3-EAF63B2C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318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96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B9682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740A7-E737-4490-AFFD-FDF2D3D2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3159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1D1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1D19"/>
                </a:solidFill>
                <a:latin typeface="Arial"/>
                <a:ea typeface="Arial"/>
                <a:cs typeface="Arial"/>
              </a:rPr>
              <a:t>Auth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41B49-FE5C-4275-B5B8-9BD2B980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11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Confirma a identidade do usuário e mantém a sessão.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480D4B-F80B-425E-BFFE-BCDB6DEF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2333625"/>
            <a:ext cx="318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96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B9682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62BEB-8491-4B94-97B1-048CEB69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3095625"/>
            <a:ext cx="3159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1D1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1D19"/>
                </a:solidFill>
                <a:latin typeface="Arial"/>
                <a:ea typeface="Arial"/>
                <a:cs typeface="Arial"/>
              </a:rPr>
              <a:t>RBAC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C6493-F0A4-4269-A5F2-D40ADCFF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4019550"/>
            <a:ext cx="311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Relaciona o perfil às ações permitidas no sistema.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2CC4E-114D-4467-BBCB-5FF70441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2333625"/>
            <a:ext cx="318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96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B9682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9E2814-8D08-4947-8E04-8340C3D7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3095625"/>
            <a:ext cx="3159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1D1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1D19"/>
                </a:solidFill>
                <a:latin typeface="Arial"/>
                <a:ea typeface="Arial"/>
                <a:cs typeface="Arial"/>
              </a:rPr>
              <a:t>RLS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58A255-DED2-4B8C-A8AC-5B038EDC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4019550"/>
            <a:ext cx="311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Aplica condições de acesso às linhas conforme as políticas do banco.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AF4417-C8F6-474E-9733-B31DDF2D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968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96820"/>
                </a:solidFill>
                <a:latin typeface="Arial"/>
                <a:ea typeface="Arial"/>
                <a:cs typeface="Arial"/>
              </a:rPr>
              <a:t>Acesso por loja e perfil precisa de testes de autorização.</a:t>
            </a:r>
          </a:p>
        </p:txBody>
      </p:sp>
    </p:spTree>
    <p:extLst>
      <p:ext uri="{BB962C8B-B14F-4D97-AF65-F5344CB8AC3E}">
        <p14:creationId xmlns:p14="http://schemas.microsoft.com/office/powerpoint/2010/main" val="2470712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F44D9-1382-403C-9F80-5F131AF0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68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6820"/>
                </a:solidFill>
                <a:latin typeface="Arial"/>
                <a:ea typeface="Arial"/>
                <a:cs typeface="Arial"/>
              </a:rPr>
              <a:t>05  DADOS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C7BC0-64A7-4C17-80F6-94A6E0E9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1D1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1D19"/>
                </a:solidFill>
                <a:latin typeface="Arial"/>
                <a:ea typeface="Arial"/>
                <a:cs typeface="Arial"/>
              </a:rPr>
              <a:t>Nuvem e implantação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97CF9-2B70-469C-8D32-5779EAF3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BRASA BURGUER  /  2026.2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B948E-B6A8-447E-8799-A9434CF6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190750"/>
          <a:ext xmlns:a="http://schemas.openxmlformats.org/drawingml/2006/main" cx="109728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476500"/>
                <a:gridCol w="6115050"/>
              </a:tblGrid>
              <a:tr h="6000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B665"/>
                          </a:solidFill>
                          <a:latin typeface="Arial"/>
                          <a:ea typeface="Arial"/>
                          <a:cs typeface="Arial"/>
                        </a:rPr>
                        <a:t>Situação</a:t>
                      </a:r>
                    </a:p>
                  </a:txBody>
                  <a:tcPr marL="91440" marR="91440" marT="45720" marB="45720">
                    <a:solidFill>
                      <a:srgbClr val="20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B665"/>
                          </a:solidFill>
                          <a:latin typeface="Arial"/>
                          <a:ea typeface="Arial"/>
                          <a:cs typeface="Arial"/>
                        </a:rPr>
                        <a:t>Componente</a:t>
                      </a:r>
                    </a:p>
                  </a:txBody>
                  <a:tcPr marL="91440" marR="91440" marT="45720" marB="45720">
                    <a:solidFill>
                      <a:srgbClr val="20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B665"/>
                          </a:solidFill>
                          <a:latin typeface="Arial"/>
                          <a:ea typeface="Arial"/>
                          <a:cs typeface="Arial"/>
                        </a:rPr>
                        <a:t>Contribuição</a:t>
                      </a:r>
                    </a:p>
                  </a:txBody>
                  <a:tcPr marL="91440" marR="91440" marT="45720" marB="45720">
                    <a:solidFill>
                      <a:srgbClr val="201D19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Em uso informado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Supabase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PostgreSQL, autenticação e API gerenciados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Execução local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Vite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Desenvolvimento e acesso via localhost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Planejado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Netlify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Hospedagem do front-end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Próxima etapa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Git + testes + CI/CD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Rastreabilidade e publicação controlada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447821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E74368-8B1F-4D8D-ABD8-D3FDE9E6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68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6820"/>
                </a:solidFill>
                <a:latin typeface="Arial"/>
                <a:ea typeface="Arial"/>
                <a:cs typeface="Arial"/>
              </a:rPr>
              <a:t>06  ENTREGA ACADÊMICA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615F1-5137-4D02-88AE-4DC2DC1C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1D1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1D19"/>
                </a:solidFill>
                <a:latin typeface="Arial"/>
                <a:ea typeface="Arial"/>
                <a:cs typeface="Arial"/>
              </a:rPr>
              <a:t>Integração com as disciplinas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49889-0D64-4FF4-9B63-2C92B953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BRASA BURGUER  /  2026.2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1FF22-991E-470F-A831-31978FAB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600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3714750"/>
                <a:gridCol w="3733800"/>
              </a:tblGrid>
              <a:tr h="6000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B665"/>
                          </a:solidFill>
                          <a:latin typeface="Arial"/>
                          <a:ea typeface="Arial"/>
                          <a:cs typeface="Arial"/>
                        </a:rPr>
                        <a:t>Disciplina / eixo</a:t>
                      </a:r>
                    </a:p>
                  </a:txBody>
                  <a:tcPr marL="91440" marR="91440" marT="45720" marB="45720">
                    <a:solidFill>
                      <a:srgbClr val="20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B665"/>
                          </a:solidFill>
                          <a:latin typeface="Arial"/>
                          <a:ea typeface="Arial"/>
                          <a:cs typeface="Arial"/>
                        </a:rPr>
                        <a:t>Conceito no projeto</a:t>
                      </a:r>
                    </a:p>
                  </a:txBody>
                  <a:tcPr marL="91440" marR="91440" marT="45720" marB="45720">
                    <a:solidFill>
                      <a:srgbClr val="20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B665"/>
                          </a:solidFill>
                          <a:latin typeface="Arial"/>
                          <a:ea typeface="Arial"/>
                          <a:cs typeface="Arial"/>
                        </a:rPr>
                        <a:t>Evidência prevista</a:t>
                      </a:r>
                    </a:p>
                  </a:txBody>
                  <a:tcPr marL="91440" marR="91440" marT="45720" marB="45720">
                    <a:solidFill>
                      <a:srgbClr val="201D19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Desenvolvimento em JavaScript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Componentes, estado, funções e eventos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Componentes e chamadas à API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Algoritmos estruturados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Sequência, decisão e repetição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Pseudocódigo e funções do banco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Matemática Computacional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Somatórios, percentuais e conversões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CMV, ticket e consumo testados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Análise orientada a objetos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Entidades e responsabilidades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Modelo conceitual do domínio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Computação em Nuvem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BaaS, identidade e serviços gerenciados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Arquitetura Supabase e implantação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2198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24BE0-4D49-478D-BE9E-90886E4E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68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6820"/>
                </a:solidFill>
                <a:latin typeface="Arial"/>
                <a:ea typeface="Arial"/>
                <a:cs typeface="Arial"/>
              </a:rPr>
              <a:t>06  ENTREGA ACADÊMICA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E51FC-8B4B-4272-A9FA-636A2747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1D1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1D19"/>
                </a:solidFill>
                <a:latin typeface="Arial"/>
                <a:ea typeface="Arial"/>
                <a:cs typeface="Arial"/>
              </a:rPr>
              <a:t>Validação e evidências da Entrega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C9BA7-77DF-49C4-A955-7218C9C1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BRASA BURGUER  /  2026.2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D319F-26EC-4FBE-B872-5985EB89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0972800" cy="3600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096000"/>
                <a:gridCol w="4876800"/>
              </a:tblGrid>
              <a:tr h="6000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B665"/>
                          </a:solidFill>
                          <a:latin typeface="Arial"/>
                          <a:ea typeface="Arial"/>
                          <a:cs typeface="Arial"/>
                        </a:rPr>
                        <a:t>Cenário a validar</a:t>
                      </a:r>
                    </a:p>
                  </a:txBody>
                  <a:tcPr marL="91440" marR="91440" marT="45720" marB="45720">
                    <a:solidFill>
                      <a:srgbClr val="20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B665"/>
                          </a:solidFill>
                          <a:latin typeface="Arial"/>
                          <a:ea typeface="Arial"/>
                          <a:cs typeface="Arial"/>
                        </a:rPr>
                        <a:t>Resultado esperado</a:t>
                      </a:r>
                    </a:p>
                  </a:txBody>
                  <a:tcPr marL="91440" marR="91440" marT="45720" marB="45720">
                    <a:solidFill>
                      <a:srgbClr val="201D19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3 burgers de 200 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Consumo de carne de 0,60 kg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Custo 8,90 e preço 27,90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CMV de 31,90%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Pedido presencial em loja delivery-only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Rejeição pela regra de atendimento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Usuário de uma unidade acessa outra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Resultado conforme política autorizada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Cancelamento ou reenvio do mesmo pedido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Sem baixa indevida ou duplicada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A2E57-C135-42EF-90E1-B3E347C4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96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96820"/>
                </a:solidFill>
                <a:latin typeface="Arial"/>
                <a:ea typeface="Arial"/>
                <a:cs typeface="Arial"/>
              </a:rPr>
              <a:t>Pendências informadas: testes automatizados, repositório Git e histórico verificável.</a:t>
            </a:r>
          </a:p>
        </p:txBody>
      </p:sp>
    </p:spTree>
    <p:extLst>
      <p:ext uri="{BB962C8B-B14F-4D97-AF65-F5344CB8AC3E}">
        <p14:creationId xmlns:p14="http://schemas.microsoft.com/office/powerpoint/2010/main" val="15534219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F5DFF-CB18-48AD-A572-B1B87C44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68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6820"/>
                </a:solidFill>
                <a:latin typeface="Arial"/>
                <a:ea typeface="Arial"/>
                <a:cs typeface="Arial"/>
              </a:rPr>
              <a:t>06  ENTREGA ACADÊMICA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C6445-0F1F-4091-A9D1-2C611267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1D1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1D19"/>
                </a:solidFill>
                <a:latin typeface="Arial"/>
                <a:ea typeface="Arial"/>
                <a:cs typeface="Arial"/>
              </a:rPr>
              <a:t>Plano de desenvolvimento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CAF47-8661-4375-91CE-776D07FE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BRASA BURGUER  /  2026.2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7F2C7-FFC1-44E5-90B2-850A6119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600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857750"/>
                <a:gridCol w="4019550"/>
              </a:tblGrid>
              <a:tr h="6000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B665"/>
                          </a:solidFill>
                          <a:latin typeface="Arial"/>
                          <a:ea typeface="Arial"/>
                          <a:cs typeface="Arial"/>
                        </a:rPr>
                        <a:t>Etapa</a:t>
                      </a:r>
                    </a:p>
                  </a:txBody>
                  <a:tcPr marL="91440" marR="91440" marT="45720" marB="45720">
                    <a:solidFill>
                      <a:srgbClr val="20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B665"/>
                          </a:solidFill>
                          <a:latin typeface="Arial"/>
                          <a:ea typeface="Arial"/>
                          <a:cs typeface="Arial"/>
                        </a:rPr>
                        <a:t>Entrega concreta</a:t>
                      </a:r>
                    </a:p>
                  </a:txBody>
                  <a:tcPr marL="91440" marR="91440" marT="45720" marB="45720">
                    <a:solidFill>
                      <a:srgbClr val="20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B665"/>
                          </a:solidFill>
                          <a:latin typeface="Arial"/>
                          <a:ea typeface="Arial"/>
                          <a:cs typeface="Arial"/>
                        </a:rPr>
                        <a:t>Conclusão verificável</a:t>
                      </a:r>
                    </a:p>
                  </a:txBody>
                  <a:tcPr marL="91440" marR="91440" marT="45720" marB="45720">
                    <a:solidFill>
                      <a:srgbClr val="201D19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1  Consolidar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README, código e migrations no Git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Execução reproduzível e commits reais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2  Validar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Testes de cálculo, estoque e acesso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Casos aprovados e falhas corrigidas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3  Integrar compras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Custo de compra nos ingredientes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Ficha e margem refletem custo válido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4  Publicar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Front-end e fluxo de implantação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Ambiente acessível e monitorado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5  Evoluir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Financeiro e Power BI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Indicadores reconciliados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667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201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0E0899-9D56-404C-9929-4C9C6D4D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2B665"/>
                </a:solidFill>
                <a:latin typeface="Arial"/>
                <a:ea typeface="Arial"/>
                <a:cs typeface="Arial"/>
              </a:rPr>
              <a:t>07  EVOLUÇÃO DO PRODUTO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9E83C2-81C1-4BF0-BC6B-B86B1F9C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Visão de negócio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8368D-9453-4A74-8500-5F3BDE6A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2B665"/>
                </a:solidFill>
                <a:latin typeface="Arial"/>
                <a:ea typeface="Arial"/>
                <a:cs typeface="Arial"/>
              </a:rPr>
              <a:t>BRASA BURGUER  /  2026.2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07928-7720-4C15-9927-25A4AC88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2B665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D19B8-9C1D-4910-891E-7AC3F0EB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318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B66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ECC4A-DB4A-4E56-B5C0-3E5708A9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3159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Público inicial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A255E-E8AB-40C8-A3E8-3F909884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11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8CDB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CDBD"/>
                </a:solidFill>
                <a:latin typeface="Arial"/>
                <a:ea typeface="Arial"/>
                <a:cs typeface="Arial"/>
              </a:rPr>
              <a:t>Hamburguerias independentes e pequenas redes de alimentação.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0FB602-5CEB-43F8-90F5-21EF51C2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2333625"/>
            <a:ext cx="318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B66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3AECA-2F15-4487-939A-FE5585B9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3095625"/>
            <a:ext cx="3159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Valor proposto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451CD-327F-43D5-9E6A-C55584F2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4019550"/>
            <a:ext cx="311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8CDB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CDBD"/>
                </a:solidFill>
                <a:latin typeface="Arial"/>
                <a:ea typeface="Arial"/>
                <a:cs typeface="Arial"/>
              </a:rPr>
              <a:t>Relacionar pedido, ficha técnica, consumo e resultado por unidade.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EFF40-729A-47F6-BBC6-D89B41DC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2333625"/>
            <a:ext cx="318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B66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E00F9-DBEF-421A-A043-2F70280C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3095625"/>
            <a:ext cx="3159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Validação comercial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BE2EDD-A6C9-4536-BBCA-7D2248D2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4019550"/>
            <a:ext cx="311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8CDB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CDBD"/>
                </a:solidFill>
                <a:latin typeface="Arial"/>
                <a:ea typeface="Arial"/>
                <a:cs typeface="Arial"/>
              </a:rPr>
              <a:t>Piloto com operação real, feedback e medição do valor percebido.</a:t>
            </a:r>
          </a:p>
        </p:txBody>
      </p:sp>
    </p:spTree>
    <p:extLst>
      <p:ext uri="{BB962C8B-B14F-4D97-AF65-F5344CB8AC3E}">
        <p14:creationId xmlns:p14="http://schemas.microsoft.com/office/powerpoint/2010/main" val="87499207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163DEE-C09B-4236-9F8E-6AA046C3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68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6820"/>
                </a:solidFill>
                <a:latin typeface="Arial"/>
                <a:ea typeface="Arial"/>
                <a:cs typeface="Arial"/>
              </a:rPr>
              <a:t>07  EVOLUÇÃO DO PRODUTO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109400-7564-493A-9152-CDD0E25B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1D1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1D19"/>
                </a:solidFill>
                <a:latin typeface="Arial"/>
                <a:ea typeface="Arial"/>
                <a:cs typeface="Arial"/>
              </a:rPr>
              <a:t>Monetização e expansão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9165A-6FDE-465F-A01F-9DA2804F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BRASA BURGUER  /  2026.2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01059E-56D7-4766-8908-301DF47C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639050"/>
              </a:tblGrid>
              <a:tr h="6000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B665"/>
                          </a:solidFill>
                          <a:latin typeface="Arial"/>
                          <a:ea typeface="Arial"/>
                          <a:cs typeface="Arial"/>
                        </a:rPr>
                        <a:t>Plano conceitual</a:t>
                      </a:r>
                    </a:p>
                  </a:txBody>
                  <a:tcPr marL="91440" marR="91440" marT="45720" marB="45720">
                    <a:solidFill>
                      <a:srgbClr val="20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B665"/>
                          </a:solidFill>
                          <a:latin typeface="Arial"/>
                          <a:ea typeface="Arial"/>
                          <a:cs typeface="Arial"/>
                        </a:rPr>
                        <a:t>Escopo comercial proposto</a:t>
                      </a:r>
                    </a:p>
                  </a:txBody>
                  <a:tcPr marL="91440" marR="91440" marT="45720" marB="45720">
                    <a:solidFill>
                      <a:srgbClr val="201D19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Starter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1 unidade, pedidos, clientes e produtos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Pro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Até 3 unidades, estoque, ficha técnica e análises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Business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Redes, compras, perdas e BI avançado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Enterprise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Integrações, customizações e suporte dedicado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E5256-5CBF-4F39-9E92-5A381A8A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968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96820"/>
                </a:solidFill>
                <a:latin typeface="Arial"/>
                <a:ea typeface="Arial"/>
                <a:cs typeface="Arial"/>
              </a:rPr>
              <a:t>Receitas complementares: implantação, treinamento, migração e serviços de dados.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31FFC9-B5FD-42C6-976C-6AD39901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Hipóteses de oferta. Preços ainda não definidos.</a:t>
            </a:r>
          </a:p>
        </p:txBody>
      </p:sp>
    </p:spTree>
    <p:extLst>
      <p:ext uri="{BB962C8B-B14F-4D97-AF65-F5344CB8AC3E}">
        <p14:creationId xmlns:p14="http://schemas.microsoft.com/office/powerpoint/2010/main" val="61161605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92CF5-BA17-48A2-8D54-3E9DF0D3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68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6820"/>
                </a:solidFill>
                <a:latin typeface="Arial"/>
                <a:ea typeface="Arial"/>
                <a:cs typeface="Arial"/>
              </a:rPr>
              <a:t>07  EVOLUÇÃO DO PRODUTO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BEC533-F5AF-46CC-B3FC-E8BAD930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1D1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1D19"/>
                </a:solidFill>
                <a:latin typeface="Arial"/>
                <a:ea typeface="Arial"/>
                <a:cs typeface="Arial"/>
              </a:rPr>
              <a:t>Integrações futuras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D6BBB-CEC7-4B19-951F-4DD13CD6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BRASA BURGUER  /  2026.2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877AF-18E2-4FFB-8F40-C40C247D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600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4524375"/>
                <a:gridCol w="4210050"/>
              </a:tblGrid>
              <a:tr h="6000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B665"/>
                          </a:solidFill>
                          <a:latin typeface="Arial"/>
                          <a:ea typeface="Arial"/>
                          <a:cs typeface="Arial"/>
                        </a:rPr>
                        <a:t>Frente</a:t>
                      </a:r>
                    </a:p>
                  </a:txBody>
                  <a:tcPr marL="91440" marR="91440" marT="45720" marB="45720">
                    <a:solidFill>
                      <a:srgbClr val="20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B665"/>
                          </a:solidFill>
                          <a:latin typeface="Arial"/>
                          <a:ea typeface="Arial"/>
                          <a:cs typeface="Arial"/>
                        </a:rPr>
                        <a:t>Integração prevista</a:t>
                      </a:r>
                    </a:p>
                  </a:txBody>
                  <a:tcPr marL="91440" marR="91440" marT="45720" marB="45720">
                    <a:solidFill>
                      <a:srgbClr val="20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B665"/>
                          </a:solidFill>
                          <a:latin typeface="Arial"/>
                          <a:ea typeface="Arial"/>
                          <a:cs typeface="Arial"/>
                        </a:rPr>
                        <a:t>Uso</a:t>
                      </a:r>
                    </a:p>
                  </a:txBody>
                  <a:tcPr marL="91440" marR="91440" marT="45720" marB="45720">
                    <a:solidFill>
                      <a:srgbClr val="201D19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Pedidos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iFood, Rappi e WhatsApp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Entrada automática e atendimento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Pagamentos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Gateways e conciliação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Liquidação e taxas reais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Fiscal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Serviço de emissão / SEFAZ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Documentos fiscais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Análise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Power BI e ETL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Relatórios sobre dados reconciliados</a:t>
                      </a:r>
                    </a:p>
                  </a:txBody>
                  <a:tcPr marL="91440" marR="91440" marT="45720" marB="45720">
                    <a:solidFill>
                      <a:srgbClr val="EEE6DB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Inteligência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LLM e previsão de demanda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1D19"/>
                          </a:solidFill>
                          <a:latin typeface="Arial"/>
                          <a:ea typeface="Arial"/>
                          <a:cs typeface="Arial"/>
                        </a:rPr>
                        <a:t>Consulta assistida e planejamento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13562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A981E-8558-494C-94E9-FAB91B8A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68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6820"/>
                </a:solidFill>
                <a:latin typeface="Arial"/>
                <a:ea typeface="Arial"/>
                <a:cs typeface="Arial"/>
              </a:rPr>
              <a:t>REFERÊNCIAS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80D38-87BE-4B33-A66C-1D0EDF75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1D1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1D19"/>
                </a:solidFill>
                <a:latin typeface="Arial"/>
                <a:ea typeface="Arial"/>
                <a:cs typeface="Arial"/>
              </a:rPr>
              <a:t>Fontes e apoio à apresentação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10E32-B9AF-4650-B996-67DFDAC5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BRASA BURGUER  /  2026.2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A1536-8341-48EF-A0B7-43BE42E3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CC7D2-5B8F-48BC-ACA6-66F5F214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1D1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1D19"/>
                </a:solidFill>
                <a:latin typeface="Arial"/>
                <a:ea typeface="Arial"/>
                <a:cs typeface="Arial"/>
              </a:rPr>
              <a:t>Materiais do projeto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A6F1C-B294-4FCB-91A0-DE2C8766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Ficha Técnica do Projeto</a:t>
            </a:r>
          </a:p>
          <a:p xmlns:a="http://schemas.openxmlformats.org/drawingml/2006/main">
            <a:pPr>
              <a:defRPr sz="1875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Brasa Burguer — Apresentação Executiva</a:t>
            </a:r>
          </a:p>
          <a:p xmlns:a="http://schemas.openxmlformats.org/drawingml/2006/main">
            <a:pPr>
              <a:defRPr sz="1875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Proposta oficial da Entrega 1, Projeto Integrado 2026/2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2DCAE-30D6-4D8B-85C8-E867760A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1D1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1D19"/>
                </a:solidFill>
                <a:latin typeface="Arial"/>
                <a:ea typeface="Arial"/>
                <a:cs typeface="Arial"/>
              </a:rPr>
              <a:t>Referências técnicas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23B97F-0242-4477-BED9-860E3D02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7632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React • Thinking in React</a:t>
            </a:r>
          </a:p>
          <a:p xmlns:a="http://schemas.openxmlformats.org/drawingml/2006/main">
            <a:pPr>
              <a:defRPr sz="1650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react.dev/learn/thinking-in-react</a:t>
            </a:r>
          </a:p>
          <a:p xmlns:a="http://schemas.openxmlformats.org/drawingml/2006/main">
            <a:pPr>
              <a:defRPr sz="1650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Supabase • Tables and Data / Row Level Security</a:t>
            </a:r>
          </a:p>
          <a:p xmlns:a="http://schemas.openxmlformats.org/drawingml/2006/main">
            <a:pPr>
              <a:defRPr sz="1650" b="0">
                <a:solidFill>
                  <a:srgbClr val="70675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0675D"/>
                </a:solidFill>
                <a:latin typeface="Arial"/>
                <a:ea typeface="Arial"/>
                <a:cs typeface="Arial"/>
              </a:rPr>
              <a:t>supabase.com/docs/guides/database/tables</a:t>
            </a:r>
          </a:p>
        </p:txBody>
      </p:sp>
    </p:spTree>
    <p:extLst>
      <p:ext uri="{BB962C8B-B14F-4D97-AF65-F5344CB8AC3E}">
        <p14:creationId xmlns:p14="http://schemas.microsoft.com/office/powerpoint/2010/main" val="176628831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201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06BBB-AD65-4870-9293-771D2637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2B665"/>
                </a:solidFill>
                <a:latin typeface="Arial"/>
                <a:ea typeface="Arial"/>
                <a:cs typeface="Arial"/>
              </a:rPr>
              <a:t>BRASA BURGUER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51049-3945-4FBE-82C4-75E5EB65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Operação integrada,</a:t>
            </a:r>
          </a:p>
          <a:p xmlns:a="http://schemas.openxmlformats.org/drawingml/2006/main">
            <a:pPr>
              <a:defRPr sz="3450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desenvolvimento verificável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AA6A4-994E-474D-BA4F-9ABBED60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2B665"/>
                </a:solidFill>
                <a:latin typeface="Arial"/>
                <a:ea typeface="Arial"/>
                <a:cs typeface="Arial"/>
              </a:rPr>
              <a:t>BRASA BURGUER  /  2026.2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DCBE3-3DFF-4849-92D0-B414FC5B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2B665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135C55-2AE8-40FE-A962-BD6D1496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2B665"/>
                </a:solidFill>
                <a:latin typeface="Arial"/>
                <a:ea typeface="Arial"/>
                <a:cs typeface="Arial"/>
              </a:rPr>
              <a:t>Pedidos e clientes</a:t>
            </a:r>
          </a:p>
          <a:p xmlns:a="http://schemas.openxmlformats.org/drawingml/2006/main">
            <a:pPr>
              <a:defRPr sz="2625" b="1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2B665"/>
                </a:solidFill>
                <a:latin typeface="Arial"/>
                <a:ea typeface="Arial"/>
                <a:cs typeface="Arial"/>
              </a:rPr>
              <a:t>Fichas técnicas e estoque</a:t>
            </a:r>
          </a:p>
          <a:p xmlns:a="http://schemas.openxmlformats.org/drawingml/2006/main">
            <a:pPr>
              <a:defRPr sz="2625" b="1">
                <a:solidFill>
                  <a:srgbClr val="F2B66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2B665"/>
                </a:solidFill>
                <a:latin typeface="Arial"/>
                <a:ea typeface="Arial"/>
                <a:cs typeface="Arial"/>
              </a:rPr>
              <a:t>Indicadores por unidade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46435-BF41-4BAB-9B76-48EDEB16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0E7"/>
                </a:solidFill>
                <a:latin typeface="Arial"/>
                <a:ea typeface="Arial"/>
                <a:cs typeface="Arial"/>
              </a:rPr>
              <a:t>Gabriel Rodrigues do Prado</a:t>
            </a:r>
          </a:p>
          <a:p xmlns:a="http://schemas.openxmlformats.org/drawingml/2006/main">
            <a:pPr>
              <a:defRPr sz="1950" b="0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0E7"/>
                </a:solidFill>
                <a:latin typeface="Arial"/>
                <a:ea typeface="Arial"/>
                <a:cs typeface="Arial"/>
              </a:rPr>
              <a:t>Rafaela Rodrigues Oliveira</a:t>
            </a:r>
          </a:p>
        </p:txBody>
      </p:sp>
    </p:spTree>
    <p:extLst>
      <p:ext uri="{BB962C8B-B14F-4D97-AF65-F5344CB8AC3E}">
        <p14:creationId xmlns:p14="http://schemas.microsoft.com/office/powerpoint/2010/main" val="6433973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2026-09-13T18:23:16.0590000Z</dcterms:created>
  <dcterms:modified xsi:type="dcterms:W3CDTF">2026-09-13T18:23:16.0590000Z</dcterms:modified>
</coreProperties>
</file>