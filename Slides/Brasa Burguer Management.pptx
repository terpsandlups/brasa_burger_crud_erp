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Plus Jakarta Sans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62000"/>
            <a:ext cx="10668000" cy="5334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2069008"/>
            <a:ext cx="4572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2502396"/>
            <a:ext cx="8101012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5400" b="1" i="0" u="none">
                <a:solidFill>
                  <a:srgbClr val="FFFFFF"/>
                </a:solidFill>
                <a:latin typeface="Plus Jakarta Sans"/>
              </a:rPr>
              <a:t>Brasa Burguer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239517"/>
            <a:ext cx="581025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A1A1AA"/>
                </a:solidFill>
                <a:latin typeface="Plus Jakarta Sans"/>
              </a:rPr>
              <a:t>De um CRUD acadêmico a um ERP especializado em operações de food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78521"/>
            <a:ext cx="32027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A580C"/>
                </a:solidFill>
                <a:latin typeface="Plus Jakarta Sans"/>
              </a:rPr>
              <a:t>PLATAFORMA DE GESTÃO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067942"/>
            <a:ext cx="3048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953767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839592"/>
            <a:ext cx="333375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1475482"/>
            <a:ext cx="5700712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171717"/>
                </a:solidFill>
                <a:latin typeface="Plus Jakarta Sans"/>
              </a:rPr>
              <a:t>O custo oculto da </a:t>
            </a:r>
            <a:r>
              <a:t>
</a:t>
            </a:r>
            <a:r>
              <a:rPr sz="3600" b="1" i="0" u="none">
                <a:solidFill>
                  <a:srgbClr val="EA580C"/>
                </a:solidFill>
                <a:latin typeface="Plus Jakarta Sans"/>
              </a:rPr>
              <a:t>fragmentação.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3029842"/>
            <a:ext cx="5350668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71717"/>
                </a:solidFill>
                <a:latin typeface="Plus Jakarta Sans"/>
              </a:rPr>
              <a:t>Sistemas isolados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3391792"/>
            <a:ext cx="50958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Plus Jakarta Sans"/>
              </a:rPr>
              <a:t>PDV, delivery e estoque operando sem integração.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7300" y="3915667"/>
            <a:ext cx="552569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71717"/>
                </a:solidFill>
                <a:latin typeface="Plus Jakarta Sans"/>
              </a:rPr>
              <a:t>Decisão reativa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7300" y="4277617"/>
            <a:ext cx="52625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Plus Jakarta Sans"/>
              </a:rPr>
              <a:t>Dependência de planilhas manuais para fechamento.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3975" y="4801492"/>
            <a:ext cx="5913239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71717"/>
                </a:solidFill>
                <a:latin typeface="Plus Jakarta Sans"/>
              </a:rPr>
              <a:t>Margem invisível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3975" y="5163442"/>
            <a:ext cx="56316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Plus Jakarta Sans"/>
              </a:rPr>
              <a:t>Desconhecimento do CMV real em tempo de execução.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62200"/>
            <a:ext cx="2557462" cy="3733800"/>
          </a:xfrm>
          <a:prstGeom prst="roundRect">
            <a:avLst>
              <a:gd name="adj" fmla="val 5959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71862" y="2362200"/>
            <a:ext cx="2557462" cy="3733800"/>
          </a:xfrm>
          <a:prstGeom prst="roundRect">
            <a:avLst>
              <a:gd name="adj" fmla="val 5959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81725" y="2362200"/>
            <a:ext cx="2557462" cy="3733800"/>
          </a:xfrm>
          <a:prstGeom prst="roundRect">
            <a:avLst>
              <a:gd name="adj" fmla="val 5959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91587" y="2362200"/>
            <a:ext cx="2538412" cy="3733800"/>
          </a:xfrm>
          <a:prstGeom prst="roundRect">
            <a:avLst>
              <a:gd name="adj" fmla="val 6003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71717"/>
                </a:solidFill>
                <a:latin typeface="Plus Jakarta Sans"/>
              </a:rPr>
              <a:t>Evolução do Produto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362075"/>
            <a:ext cx="114300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52525B"/>
                </a:solidFill>
                <a:latin typeface="Plus Jakarta Sans"/>
              </a:rPr>
              <a:t>Construção guiada por necessidades operacionais reais.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2676525"/>
            <a:ext cx="2411015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Plus Jakarta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3409950"/>
            <a:ext cx="253156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71717"/>
                </a:solidFill>
                <a:latin typeface="Plus Jakarta Sans"/>
              </a:rPr>
              <a:t>Fundação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790950"/>
            <a:ext cx="2024062" cy="1990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Plus Jakarta Sans"/>
              </a:rPr>
              <a:t>Modelagem de banco, cadastros básicos e relacionamentos.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6187" y="2676525"/>
            <a:ext cx="2411015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Plus Jakarta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6187" y="3409950"/>
            <a:ext cx="253156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71717"/>
                </a:solidFill>
                <a:latin typeface="Plus Jakarta Sans"/>
              </a:rPr>
              <a:t>Fluxo de Pedidos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6187" y="3790950"/>
            <a:ext cx="2024062" cy="1990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Plus Jakarta Sans"/>
              </a:rPr>
              <a:t>Operação de PDV, kanban e atendimento de ponta a ponta.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6050" y="2676525"/>
            <a:ext cx="2411015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Plus Jakarta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6050" y="3409950"/>
            <a:ext cx="253156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71717"/>
                </a:solidFill>
                <a:latin typeface="Plus Jakarta Sans"/>
              </a:rPr>
              <a:t>Ficha &amp;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6050" y="3790950"/>
            <a:ext cx="2024062" cy="1990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Plus Jakarta Sans"/>
              </a:rPr>
              <a:t>Dashboard gerencial e cálculo automatizado de CMV.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6387" y="2667000"/>
            <a:ext cx="2411015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EA580C"/>
                </a:solidFill>
                <a:latin typeface="Plus Jakarta Sa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6387" y="3400425"/>
            <a:ext cx="253156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ERP Food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6387" y="3781425"/>
            <a:ext cx="2024062" cy="2009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Plus Jakarta Sans"/>
              </a:rPr>
              <a:t>Plataforma completa para gestão de múltiplas unidades.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23912"/>
            <a:ext cx="38100" cy="304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505075"/>
            <a:ext cx="5219700" cy="1562100"/>
          </a:xfrm>
          <a:prstGeom prst="roundRect">
            <a:avLst>
              <a:gd name="adj" fmla="val 7317"/>
            </a:avLst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505075"/>
            <a:ext cx="5219700" cy="1562100"/>
          </a:xfrm>
          <a:prstGeom prst="roundRect">
            <a:avLst>
              <a:gd name="adj" fmla="val 7317"/>
            </a:avLst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4295775"/>
            <a:ext cx="5219700" cy="1562100"/>
          </a:xfrm>
          <a:prstGeom prst="roundRect">
            <a:avLst>
              <a:gd name="adj" fmla="val 7317"/>
            </a:avLst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4295775"/>
            <a:ext cx="5219700" cy="1562100"/>
          </a:xfrm>
          <a:prstGeom prst="roundRect">
            <a:avLst>
              <a:gd name="adj" fmla="val 7317"/>
            </a:avLst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05752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0" y="3057525"/>
            <a:ext cx="40005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848225"/>
            <a:ext cx="40005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00" y="4848225"/>
            <a:ext cx="5715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1419225"/>
            <a:ext cx="77152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52525B"/>
                </a:solidFill>
                <a:latin typeface="Plus Jakarta Sans"/>
              </a:rPr>
              <a:t>Arquitetura em camadas baseada em nuvem, garantindo escalabilidade e processamento em tempo real.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762000"/>
            <a:ext cx="4038004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71717"/>
                </a:solidFill>
                <a:latin typeface="Plus Jakarta Sans"/>
              </a:rPr>
              <a:t>Stack Tecnológico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886075"/>
            <a:ext cx="4950618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71717"/>
                </a:solidFill>
                <a:latin typeface="Plus Jakarta Sans"/>
              </a:rPr>
              <a:t>Front-end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48025"/>
            <a:ext cx="38671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Plus Jakarta Sans"/>
              </a:rPr>
              <a:t>React + Vite + Tailwind CSS para interface fluida.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950" y="2886075"/>
            <a:ext cx="49720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71717"/>
                </a:solidFill>
                <a:latin typeface="Plus Jakarta Sans"/>
              </a:rPr>
              <a:t>Back-end Automático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950" y="3248025"/>
            <a:ext cx="39243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Plus Jakarta Sans"/>
              </a:rPr>
              <a:t>Supabase, PostgreSQL, e API REST gerada via PostgREST.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71650" y="4676775"/>
            <a:ext cx="5025628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71717"/>
                </a:solidFill>
                <a:latin typeface="Plus Jakarta Sans"/>
              </a:rPr>
              <a:t>Inteligência de Dados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71650" y="5038725"/>
            <a:ext cx="39243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Plus Jakarta Sans"/>
              </a:rPr>
              <a:t>Scripts estruturados em Python para automação e ETL.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1400" y="4676775"/>
            <a:ext cx="48006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71717"/>
                </a:solidFill>
                <a:latin typeface="Plus Jakarta Sans"/>
              </a:rPr>
              <a:t>Infraestrutura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1400" y="5038725"/>
            <a:ext cx="37528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Plus Jakarta Sans"/>
              </a:rPr>
              <a:t>Deploy contínuo e escalável no Netlify sem servidor local.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475" y="4133850"/>
            <a:ext cx="200025" cy="228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451" y="4133850"/>
            <a:ext cx="200025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501" y="4133850"/>
            <a:ext cx="200025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725" y="3305175"/>
            <a:ext cx="1143000" cy="1143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1975" y="3305175"/>
            <a:ext cx="11430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489" y="3305175"/>
            <a:ext cx="1143000" cy="1143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5127" y="3305175"/>
            <a:ext cx="1143000" cy="1143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725" y="3686175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2975" y="3686175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6676" y="3686175"/>
            <a:ext cx="428625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3752" y="3686175"/>
            <a:ext cx="285750" cy="381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33787" y="1666875"/>
            <a:ext cx="6463307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71717"/>
                </a:solidFill>
                <a:latin typeface="Plus Jakarta Sans"/>
              </a:rPr>
              <a:t>O banco de dados que 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9825" y="2305050"/>
            <a:ext cx="921543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52525B"/>
                </a:solidFill>
                <a:latin typeface="Plus Jakarta Sans"/>
              </a:rPr>
              <a:t>Triggers e funções automatizam o cálculo operacional no exato momento da venda.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8585" y="4676775"/>
            <a:ext cx="222527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71717"/>
                </a:solidFill>
                <a:latin typeface="Plus Jakarta Sans"/>
              </a:rPr>
              <a:t>Venda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1568" y="4991100"/>
            <a:ext cx="21193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52525B"/>
                </a:solidFill>
                <a:latin typeface="Plus Jakarta Sans"/>
              </a:rPr>
              <a:t>Item registrado no PDV.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8322" y="4676775"/>
            <a:ext cx="245030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71717"/>
                </a:solidFill>
                <a:latin typeface="Plus Jakarta Sans"/>
              </a:rPr>
              <a:t>Ficha Técnica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6663" y="4991100"/>
            <a:ext cx="2333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52525B"/>
                </a:solidFill>
                <a:latin typeface="Plus Jakarta Sans"/>
              </a:rPr>
              <a:t>Identificação de insumos.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2067" y="4676775"/>
            <a:ext cx="273784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71717"/>
                </a:solidFill>
                <a:latin typeface="Plus Jakarta Sans"/>
              </a:rPr>
              <a:t>Estoque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57254" y="4991100"/>
            <a:ext cx="26074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52525B"/>
                </a:solidFill>
                <a:latin typeface="Plus Jakarta Sans"/>
              </a:rPr>
              <a:t>Baixa automática por trigger.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8935" y="4676775"/>
            <a:ext cx="30753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71717"/>
                </a:solidFill>
                <a:latin typeface="Plus Jakarta Sans"/>
              </a:rPr>
              <a:t>CMV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2158" y="4991100"/>
            <a:ext cx="2928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52525B"/>
                </a:solidFill>
                <a:latin typeface="Plus Jakarta Sans"/>
              </a:rPr>
              <a:t>Custo atualizado em tempo real.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534667"/>
            <a:ext cx="1714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001392"/>
            <a:ext cx="1714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468117"/>
            <a:ext cx="171450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0" y="1946969"/>
            <a:ext cx="5700712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171717"/>
                </a:solidFill>
                <a:latin typeface="Plus Jakarta Sans"/>
              </a:rPr>
              <a:t>Experiência que </a:t>
            </a:r>
            <a:r>
              <a:t>
</a:t>
            </a:r>
            <a:r>
              <a:rPr sz="3600" b="1" i="0" u="none">
                <a:solidFill>
                  <a:srgbClr val="171717"/>
                </a:solidFill>
                <a:latin typeface="Plus Jakarta Sans"/>
              </a:rPr>
              <a:t> não trava o caixa.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9850" y="3501330"/>
            <a:ext cx="542925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71717"/>
                </a:solidFill>
                <a:latin typeface="Plus Jakarta Sans"/>
              </a:rPr>
              <a:t>Busca por CPF:</a:t>
            </a:r>
            <a:r>
              <a:rPr sz="1500" b="0" i="0" u="none">
                <a:solidFill>
                  <a:srgbClr val="171717"/>
                </a:solidFill>
                <a:latin typeface="Plus Jakarta Sans"/>
              </a:rPr>
              <a:t> Histórico automático do cliente.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850" y="3968055"/>
            <a:ext cx="577215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71717"/>
                </a:solidFill>
                <a:latin typeface="Plus Jakarta Sans"/>
              </a:rPr>
              <a:t>Cadastro expresso:</a:t>
            </a:r>
            <a:r>
              <a:rPr sz="1500" b="0" i="0" u="none">
                <a:solidFill>
                  <a:srgbClr val="171717"/>
                </a:solidFill>
                <a:latin typeface="Plus Jakarta Sans"/>
              </a:rPr>
              <a:t> Sem interromper o fluxo de venda.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850" y="4434780"/>
            <a:ext cx="51054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71717"/>
                </a:solidFill>
                <a:latin typeface="Plus Jakarta Sans"/>
              </a:rPr>
              <a:t>Endereço inteligente:</a:t>
            </a:r>
            <a:r>
              <a:rPr sz="1500" b="0" i="0" u="none">
                <a:solidFill>
                  <a:srgbClr val="171717"/>
                </a:solidFill>
                <a:latin typeface="Plus Jakarta Sans"/>
              </a:rPr>
              <a:t> Preenchimento automático via CEP.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36726" y="3643312"/>
            <a:ext cx="17710" cy="7620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31855" y="3643312"/>
            <a:ext cx="17710" cy="7620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897540" y="3643312"/>
            <a:ext cx="17710" cy="7620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-285750" y="762000"/>
            <a:ext cx="127635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171717"/>
                </a:solidFill>
                <a:latin typeface="Plus Jakarta Sans"/>
              </a:rPr>
              <a:t>Respostas imediatas para o gestor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526" y="3405187"/>
            <a:ext cx="2456222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171717"/>
                </a:solidFill>
                <a:latin typeface="Plus Jakarta Sans"/>
              </a:rPr>
              <a:t>42,1K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526" y="4167187"/>
            <a:ext cx="2456222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52525B"/>
                </a:solidFill>
                <a:latin typeface="Plus Jakarta Sans"/>
              </a:rPr>
              <a:t>FATURAMENTO BRUTO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1759" y="3405187"/>
            <a:ext cx="1822772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171717"/>
                </a:solidFill>
                <a:latin typeface="Plus Jakarta Sans"/>
              </a:rPr>
              <a:t>312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81759" y="4167187"/>
            <a:ext cx="1822772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52525B"/>
                </a:solidFill>
                <a:latin typeface="Plus Jakarta Sans"/>
              </a:rPr>
              <a:t>PEDIDOS TOTAIS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568" y="3524250"/>
            <a:ext cx="2035968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171717"/>
                </a:solidFill>
                <a:latin typeface="Plus Jakarta Sans"/>
              </a:rPr>
              <a:t>135</a:t>
            </a:r>
            <a:r>
              <a:rPr sz="3000" b="1" i="0" u="none">
                <a:solidFill>
                  <a:srgbClr val="171717"/>
                </a:solidFill>
                <a:latin typeface="Plus Jakarta Sans"/>
              </a:rPr>
              <a:t>,20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568" y="4286250"/>
            <a:ext cx="203596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52525B"/>
                </a:solidFill>
                <a:latin typeface="Plus Jakarta Sans"/>
              </a:rPr>
              <a:t>TICKET MÉDIO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6726" y="3405187"/>
            <a:ext cx="2381250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16A34A"/>
                </a:solidFill>
                <a:latin typeface="Plus Jakarta Sans"/>
              </a:rPr>
              <a:t>31,4%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6726" y="4167187"/>
            <a:ext cx="23812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6A34A"/>
                </a:solidFill>
                <a:latin typeface="Plus Jakarta Sans"/>
              </a:rPr>
              <a:t>CMV CONSOLIDADO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687067"/>
            <a:ext cx="4572000" cy="1981200"/>
          </a:xfrm>
          <a:prstGeom prst="roundRect">
            <a:avLst>
              <a:gd name="adj" fmla="val 5769"/>
            </a:avLst>
          </a:prstGeom>
          <a:solidFill>
            <a:srgbClr val="FAFAF9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76325" y="4820542"/>
            <a:ext cx="3943350" cy="1905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1189732"/>
            <a:ext cx="5700712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171717"/>
                </a:solidFill>
                <a:latin typeface="Plus Jakarta Sans"/>
              </a:rPr>
              <a:t>Ficha técnica: a base da rentabilidade.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515492"/>
            <a:ext cx="485775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52525B"/>
                </a:solidFill>
                <a:latin typeface="Plus Jakarta Sans"/>
              </a:rPr>
              <a:t>O CMV (Custo da Mercadoria Vendida) é calculado automaticamente. Adeus planilhas paralelas e defasagem.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4001392"/>
            <a:ext cx="16073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Plus Jakarta Sans"/>
              </a:rPr>
              <a:t>Preço de Venda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6250" y="4001392"/>
            <a:ext cx="10191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71717"/>
                </a:solidFill>
                <a:latin typeface="Plus Jakarta Sans"/>
              </a:rPr>
              <a:t>R$ 27,90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4372867"/>
            <a:ext cx="1857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A580C"/>
                </a:solidFill>
                <a:latin typeface="Plus Jakarta Sans"/>
              </a:rPr>
              <a:t>Custo do Produto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1975" y="4372867"/>
            <a:ext cx="9334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A580C"/>
                </a:solidFill>
                <a:latin typeface="Plus Jakarta Sans"/>
              </a:rPr>
              <a:t>R$ 8,90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5068192"/>
            <a:ext cx="14001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6A34A"/>
                </a:solidFill>
                <a:latin typeface="Plus Jakarta Sans"/>
              </a:rPr>
              <a:t>Margem Bruta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7675" y="5068192"/>
            <a:ext cx="10477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6A34A"/>
                </a:solidFill>
                <a:latin typeface="Plus Jakarta Sans"/>
              </a:rPr>
              <a:t>68,6%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219200" y="3090862"/>
            <a:ext cx="3048000" cy="2162175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0" y="3090862"/>
            <a:ext cx="3048000" cy="2162175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924800" y="3090862"/>
            <a:ext cx="3048000" cy="2162175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887" y="3557587"/>
            <a:ext cx="428625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75" y="3557587"/>
            <a:ext cx="47625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0" y="3557587"/>
            <a:ext cx="3810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285750" y="762000"/>
            <a:ext cx="127635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171717"/>
                </a:solidFill>
                <a:latin typeface="Plus Jakarta Sans"/>
              </a:rPr>
              <a:t>Arquitetura Multiunidade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285750" y="1400175"/>
            <a:ext cx="127635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52525B"/>
                </a:solidFill>
                <a:latin typeface="Plus Jakarta Sans"/>
              </a:rPr>
              <a:t>Controle individualizado com visão global consolidada.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5501" y="4167187"/>
            <a:ext cx="317539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71717"/>
                </a:solidFill>
                <a:latin typeface="Plus Jakarta Sans"/>
              </a:rPr>
              <a:t>Loja Japy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1106" y="4567237"/>
            <a:ext cx="30241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52525B"/>
                </a:solidFill>
                <a:latin typeface="Plus Jakarta Sans"/>
              </a:rPr>
              <a:t>Presencial + 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8301" y="4167187"/>
            <a:ext cx="317539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71717"/>
                </a:solidFill>
                <a:latin typeface="Plus Jakarta Sans"/>
              </a:rPr>
              <a:t>Loja Retiro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3906" y="4567237"/>
            <a:ext cx="30241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52525B"/>
                </a:solidFill>
                <a:latin typeface="Plus Jakarta Sans"/>
              </a:rPr>
              <a:t>Exclusivo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1101" y="4167187"/>
            <a:ext cx="317539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71717"/>
                </a:solidFill>
                <a:latin typeface="Plus Jakarta Sans"/>
              </a:rPr>
              <a:t>Loja Eloy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706" y="4567237"/>
            <a:ext cx="30241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52525B"/>
                </a:solidFill>
                <a:latin typeface="Plus Jakarta Sans"/>
              </a:rPr>
              <a:t>Dark Kitchen / Delivery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47937"/>
            <a:ext cx="142875" cy="2000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976562"/>
            <a:ext cx="142875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405187"/>
            <a:ext cx="14287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362" y="2547937"/>
            <a:ext cx="1714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362" y="2976562"/>
            <a:ext cx="1714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362" y="3405187"/>
            <a:ext cx="171450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285750" y="762000"/>
            <a:ext cx="127635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171717"/>
                </a:solidFill>
                <a:latin typeface="Plus Jakarta Sans"/>
              </a:rPr>
              <a:t>Especialização como Diferencial Competitivo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800225"/>
            <a:ext cx="6194524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71717"/>
                </a:solidFill>
                <a:latin typeface="Plus Jakarta Sans"/>
              </a:rPr>
              <a:t>ERPs Genéricos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0362" y="1800225"/>
            <a:ext cx="5481637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A580C"/>
                </a:solidFill>
                <a:latin typeface="Plus Jakarta Sans"/>
              </a:rPr>
              <a:t>Brasa Burguer ERP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2514600"/>
            <a:ext cx="39528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52525B"/>
                </a:solidFill>
                <a:latin typeface="Plus Jakarta Sans"/>
              </a:rPr>
              <a:t>Amplos, mas rasos em food service.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2943225"/>
            <a:ext cx="417909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52525B"/>
                </a:solidFill>
                <a:latin typeface="Plus Jakarta Sans"/>
              </a:rPr>
              <a:t>Ficha técnica genérica ou inexistente.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3371850"/>
            <a:ext cx="34766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52525B"/>
                </a:solidFill>
                <a:latin typeface="Plus Jakarta Sans"/>
              </a:rPr>
              <a:t>Configuração complexa e cara.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4212" y="2514600"/>
            <a:ext cx="42386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71717"/>
                </a:solidFill>
                <a:latin typeface="Plus Jakarta Sans"/>
              </a:rPr>
              <a:t>Nativo para operação de alimentação.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4212" y="2943225"/>
            <a:ext cx="42386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71717"/>
                </a:solidFill>
                <a:latin typeface="Plus Jakarta Sans"/>
              </a:rPr>
              <a:t>CMV, perdas e ficha técnica no centro.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4212" y="3371850"/>
            <a:ext cx="489346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71717"/>
                </a:solidFill>
                <a:latin typeface="Plus Jakarta Sans"/>
              </a:rPr>
              <a:t>Visão consolidada multiunidade por padrão.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4728120"/>
            <a:ext cx="5334000" cy="1152525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0" y="4728120"/>
            <a:ext cx="38100" cy="11525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0" y="977354"/>
            <a:ext cx="6096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A580C"/>
                </a:solidFill>
                <a:latin typeface="Plus Jakarta Sans"/>
              </a:rPr>
              <a:t>PROVA DE CONCEITO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1329779"/>
            <a:ext cx="5700712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171717"/>
                </a:solidFill>
                <a:latin typeface="Plus Jakarta Sans"/>
              </a:rPr>
              <a:t>O Brasa Burguer não é só software. É comércio.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3280320"/>
            <a:ext cx="54292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52525B"/>
                </a:solidFill>
                <a:latin typeface="Plus Jakarta Sans"/>
              </a:rPr>
              <a:t>Uma pequena rede de hamburguerias operando de verdade. O ERP que desenvolvi não foi criado em um laboratório isolado, ele nasceu na operação real, resolvendo dores do caixa à chapa.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2700" y="4956720"/>
            <a:ext cx="58293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71717"/>
                </a:solidFill>
                <a:latin typeface="Plus Jakarta Sans"/>
              </a:rPr>
              <a:t>Nosso "Living Lab"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2700" y="5251995"/>
            <a:ext cx="4933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52525B"/>
                </a:solidFill>
                <a:latin typeface="Plus Jakarta Sans"/>
              </a:rPr>
              <a:t>O Brasa Burguer é a validação viva de que o sistema é à prova de balas no horário de pico. É o showcase perfeito para o mercado.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857375"/>
            <a:ext cx="5153025" cy="4238625"/>
          </a:xfrm>
          <a:prstGeom prst="roundRect">
            <a:avLst>
              <a:gd name="adj" fmla="val 2696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96025" y="1857375"/>
            <a:ext cx="5133975" cy="4238625"/>
          </a:xfrm>
          <a:prstGeom prst="roundRect">
            <a:avLst>
              <a:gd name="adj" fmla="val 2696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2324100"/>
            <a:ext cx="428625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25" y="3857625"/>
            <a:ext cx="11430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25" y="4410075"/>
            <a:ext cx="1143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285750" y="762000"/>
            <a:ext cx="127635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171717"/>
                </a:solidFill>
                <a:latin typeface="Plus Jakarta Sans"/>
              </a:rPr>
              <a:t>A virada de chave: O fim do ERP genérico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8725" y="2933700"/>
            <a:ext cx="553819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71717"/>
                </a:solidFill>
                <a:latin typeface="Plus Jakarta Sans"/>
              </a:rPr>
              <a:t>O modelo tradicional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8725" y="3371850"/>
            <a:ext cx="527446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Plus Jakarta Sans"/>
              </a:rPr>
              <a:t>Você entra no sistema "deles".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7325" y="3819525"/>
            <a:ext cx="40862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52525B"/>
                </a:solidFill>
                <a:latin typeface="Plus Jakarta Sans"/>
              </a:rPr>
              <a:t>Sistemas crus com interfaces frias e universais (a mesma tela atende a padaria e o petshop).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7325" y="4371975"/>
            <a:ext cx="40862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52525B"/>
                </a:solidFill>
                <a:latin typeface="Plus Jakarta Sans"/>
              </a:rPr>
              <a:t>O seu negócio perde a identidade e é obrigado a se adaptar às regras rígidas do software.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225" y="2314575"/>
            <a:ext cx="3810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3225" y="3848100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3225" y="4400550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3225" y="4953000"/>
            <a:ext cx="13335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53225" y="2924175"/>
            <a:ext cx="54387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Plus Jakarta Sans"/>
              </a:rPr>
              <a:t>A nossa visão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3225" y="3362325"/>
            <a:ext cx="527446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Plus Jakarta Sans"/>
              </a:rPr>
              <a:t>O sistema entra no "seu" negócio.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0875" y="3810000"/>
            <a:ext cx="40671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Motor escalável, mas com interface 100% personalizada para o varejo de cada cliente.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0875" y="4362450"/>
            <a:ext cx="40671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A identidade visual da hamburgueria domina a tela do PDV e os fluxos são moldados para ela.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0875" y="4914900"/>
            <a:ext cx="40671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A escalabilidade de um SaaS global, mas com a sensação premium de um software sob medida.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800225"/>
            <a:ext cx="2524125" cy="4295775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76625" y="1800225"/>
            <a:ext cx="2543175" cy="4295775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1800225"/>
            <a:ext cx="2524125" cy="4295775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24925" y="1800225"/>
            <a:ext cx="2505075" cy="4295775"/>
          </a:xfrm>
          <a:prstGeom prst="roundRect">
            <a:avLst>
              <a:gd name="adj" fmla="val 4562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972050" y="2157412"/>
            <a:ext cx="723900" cy="219075"/>
          </a:xfrm>
          <a:prstGeom prst="roundRect">
            <a:avLst>
              <a:gd name="adj" fmla="val 17391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-285750" y="762000"/>
            <a:ext cx="127635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171717"/>
                </a:solidFill>
                <a:latin typeface="Plus Jakarta Sans"/>
              </a:rPr>
              <a:t>Modelo de Receita SaaS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2114550"/>
            <a:ext cx="248781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71717"/>
                </a:solidFill>
                <a:latin typeface="Plus Jakarta Sans"/>
              </a:rPr>
              <a:t>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2514600"/>
            <a:ext cx="2369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52525B"/>
                </a:solidFill>
                <a:latin typeface="Plus Jakarta Sans"/>
              </a:rPr>
              <a:t>Até 1 unidade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0475" y="2524125"/>
            <a:ext cx="2369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52525B"/>
                </a:solidFill>
                <a:latin typeface="Plus Jakarta Sans"/>
              </a:rPr>
              <a:t>Até 3 unidades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2114550"/>
            <a:ext cx="248781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71717"/>
                </a:solidFill>
                <a:latin typeface="Plus Jakarta Sans"/>
              </a:rPr>
              <a:t>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2514600"/>
            <a:ext cx="2369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52525B"/>
                </a:solidFill>
                <a:latin typeface="Plus Jakarta Sans"/>
              </a:rPr>
              <a:t>Redes (4+ uni)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29725" y="2105025"/>
            <a:ext cx="248781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Plus Jakarta Sans"/>
              </a:rPr>
              <a:t>Enterprise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9725" y="2505075"/>
            <a:ext cx="2369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A1A1AA"/>
                </a:solidFill>
                <a:latin typeface="Plus Jakarta Sans"/>
              </a:rPr>
              <a:t>Franquias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2943225"/>
            <a:ext cx="2369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1717"/>
                </a:solidFill>
                <a:latin typeface="Plus Jakarta Sans"/>
              </a:rPr>
              <a:t>• Gestão de Pedidos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3257550"/>
            <a:ext cx="2369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1717"/>
                </a:solidFill>
                <a:latin typeface="Plus Jakarta Sans"/>
              </a:rPr>
              <a:t>• Base de Clientes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325" y="3571875"/>
            <a:ext cx="2369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1717"/>
                </a:solidFill>
                <a:latin typeface="Plus Jakarta Sans"/>
              </a:rPr>
              <a:t>• Dashboard Básico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0475" y="2124075"/>
            <a:ext cx="710088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71717"/>
                </a:solidFill>
                <a:latin typeface="Plus Jakarta Sans"/>
              </a:rPr>
              <a:t>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8250" y="2195512"/>
            <a:ext cx="6667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POPULAR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0475" y="2952750"/>
            <a:ext cx="2369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1717"/>
                </a:solidFill>
                <a:latin typeface="Plus Jakarta Sans"/>
              </a:rPr>
              <a:t>• Gestão de Estoque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0475" y="3267075"/>
            <a:ext cx="2369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1717"/>
                </a:solidFill>
                <a:latin typeface="Plus Jakarta Sans"/>
              </a:rPr>
              <a:t>• Ficha Técnica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0475" y="3581400"/>
            <a:ext cx="2369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1717"/>
                </a:solidFill>
                <a:latin typeface="Plus Jakarta Sans"/>
              </a:rPr>
              <a:t>• CMV Automático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625" y="2943225"/>
            <a:ext cx="2369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1717"/>
                </a:solidFill>
                <a:latin typeface="Plus Jakarta Sans"/>
              </a:rPr>
              <a:t>• Visão Consolidada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4625" y="3257550"/>
            <a:ext cx="19907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1717"/>
                </a:solidFill>
                <a:latin typeface="Plus Jakarta Sans"/>
              </a:rPr>
              <a:t>• Compras e Fornecedores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4625" y="3771900"/>
            <a:ext cx="2369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1717"/>
                </a:solidFill>
                <a:latin typeface="Plus Jakarta Sans"/>
              </a:rPr>
              <a:t>• Controle de Perdas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9725" y="2933700"/>
            <a:ext cx="2369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Plus Jakarta Sans"/>
              </a:rPr>
              <a:t>• Acesso total à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9725" y="3248025"/>
            <a:ext cx="19907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Plus Jakarta Sans"/>
              </a:rPr>
              <a:t>• Dashboards Customizados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9725" y="3762375"/>
            <a:ext cx="2369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Plus Jakarta Sans"/>
              </a:rPr>
              <a:t>• Suporte Dedicado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086225"/>
            <a:ext cx="609600" cy="1905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533525"/>
            <a:ext cx="5334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219325"/>
            <a:ext cx="5100637" cy="148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 u="none">
                <a:solidFill>
                  <a:srgbClr val="171717"/>
                </a:solidFill>
                <a:latin typeface="Plus Jakarta Sans"/>
              </a:rPr>
              <a:t>"Qual produto mais perdeu margem este mês?"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486275"/>
            <a:ext cx="70008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71717"/>
                </a:solidFill>
                <a:latin typeface="Plus Jakarta Sans"/>
              </a:rPr>
              <a:t>O Futuro: Um copiloto de gestão.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886325"/>
            <a:ext cx="48577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Plus Jakarta Sans"/>
              </a:rPr>
              <a:t>De relatórios estáticos a previsões dinâmicas utilizando inteligência artificial e linguagem natural.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746051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5375" y="2508051"/>
            <a:ext cx="10001250" cy="12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sz="4200" b="1" i="0" u="none">
                <a:solidFill>
                  <a:srgbClr val="FFFFFF"/>
                </a:solidFill>
                <a:latin typeface="Plus Jakarta Sans"/>
              </a:rPr>
              <a:t>De um exercício técnico a um produto real.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81625" y="4016573"/>
            <a:ext cx="14287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A1A1AA"/>
                </a:solidFill>
                <a:latin typeface="Plus Jakarta Sans"/>
              </a:rPr>
              <a:t>Obrigado.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8890" y="4911923"/>
            <a:ext cx="32742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EA580C"/>
                </a:solidFill>
                <a:latin typeface="Plus Jakarta Sans"/>
              </a:rPr>
              <a:t>BRASA BURGUER MANAGEMENT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857250"/>
            <a:ext cx="11049000" cy="847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7049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24765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2480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4010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010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38225"/>
            <a:ext cx="857250" cy="476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47850"/>
            <a:ext cx="857250" cy="476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19375"/>
            <a:ext cx="857250" cy="4762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90900"/>
            <a:ext cx="857250" cy="476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2425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Plus Jakarta Sans"/>
              </a:rPr>
              <a:t>Image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000125"/>
            <a:ext cx="100488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Plus Jakarta Sans"/>
              </a:rPr>
              <a:t>https://ak1.ostkcdn.com/images/products/30115178/6-Stainless-Steel-Metal-Receipt-Spike-Holder-Bill-Spindle-for-Restaurant-Office-0a9481ad-a3f0-405b-beec-66f7f8c9cd58_600.jpg?impolicy=medium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1352550"/>
            <a:ext cx="35837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www.bedbathandbeyond.com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1885950"/>
            <a:ext cx="10525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Plus Jakarta Sans"/>
              </a:rPr>
              <a:t>https://www.poszeo.com/wp-content/uploads/2025/12/POS-on-the-Cloud-Modern-Point-of-Sale-for-Retail-and-Restaurants-1-1300x743.webp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085975"/>
            <a:ext cx="2393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www.poszeo.com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875" y="2657475"/>
            <a:ext cx="941784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Plus Jakarta Sans"/>
              </a:rPr>
              <a:t>https://blog.thermoworks.com/wp-content/uploads/2021/05/39_Cook-Homemade-Hamburger-Buns_Silicone1-scaled.jpg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2857500"/>
            <a:ext cx="28932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blog.thermoworks.com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3429000"/>
            <a:ext cx="70127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Plus Jakarta Sans"/>
              </a:rPr>
              <a:t>https://s.alicdn.com/@sc04/kf/H4480898f1df84556a970dcc9e5e7158eg.jpg_640x640.jpg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6875" y="3629025"/>
            <a:ext cx="2238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www.accio.com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6875" y="4200525"/>
            <a:ext cx="66436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Plus Jakarta Sans"/>
              </a:rPr>
              <a:t>https://images.splitshire.com/full/Dark-Marketing-Landing-Page-Illustration_76538d.png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4400550"/>
            <a:ext cx="2547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www.splitshire.com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836</Words>
  <Application>Microsoft Office PowerPoint</Application>
  <PresentationFormat>Widescreen</PresentationFormat>
  <Paragraphs>136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Plus Jakarta Sans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Gabriel Prado</cp:lastModifiedBy>
  <cp:revision>1</cp:revision>
  <dcterms:created xsi:type="dcterms:W3CDTF">2013-01-27T09:14:16Z</dcterms:created>
  <dcterms:modified xsi:type="dcterms:W3CDTF">2026-10-06T00:36:48Z</dcterms:modified>
  <cp:category/>
</cp:coreProperties>
</file>